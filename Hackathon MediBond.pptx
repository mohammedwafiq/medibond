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Helvetica World" panose="020B0604020202020204" charset="-128"/>
      <p:regular r:id="rId14"/>
    </p:embeddedFont>
    <p:embeddedFont>
      <p:font typeface="Helvetica World Bold" panose="020B0604020202020204" charset="-128"/>
      <p:regular r:id="rId15"/>
    </p:embeddedFont>
    <p:embeddedFont>
      <p:font typeface="Anton" panose="020B0604020202020204" charset="0"/>
      <p:regular r:id="rId16"/>
    </p:embeddedFon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93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871B2431-D351-4C6E-A3CF-9DFAC0E3E050}" type="slidenum">
              <a:rPr lang="cs-CZ" smtClean="0"/>
              <a:t>3</a:t>
            </a:fld>
            <a:endParaRPr lang="cs-CZ"/>
          </a:p>
        </p:txBody>
      </p:sp>
    </p:spTree>
    <p:extLst>
      <p:ext uri="{BB962C8B-B14F-4D97-AF65-F5344CB8AC3E}">
        <p14:creationId xmlns:p14="http://schemas.microsoft.com/office/powerpoint/2010/main" val="3659811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We meet 5 UN Sustainable Development Goals</a:t>
            </a:r>
          </a:p>
          <a:p>
            <a:endParaRPr lang="en-US" dirty="0"/>
          </a:p>
          <a:p>
            <a:r>
              <a:rPr lang="en-US" dirty="0"/>
              <a:t>Protects patients from harmful fake medicines.</a:t>
            </a:r>
          </a:p>
          <a:p>
            <a:endParaRPr lang="en-US" dirty="0"/>
          </a:p>
          <a:p>
            <a:r>
              <a:rPr lang="en-US" dirty="0"/>
              <a:t>Uses blockchain tech to modernize medicine tracking.</a:t>
            </a:r>
          </a:p>
          <a:p>
            <a:endParaRPr lang="en-US" dirty="0"/>
          </a:p>
          <a:p>
            <a:r>
              <a:rPr lang="en-US" dirty="0"/>
              <a:t>Ensures safe, traceable use of genuine medicines.</a:t>
            </a:r>
          </a:p>
          <a:p>
            <a:endParaRPr lang="en-US" dirty="0"/>
          </a:p>
          <a:p>
            <a:r>
              <a:rPr lang="en-US" dirty="0"/>
              <a:t>Creates transparency and accountability in drug supply</a:t>
            </a:r>
          </a:p>
          <a:p>
            <a:endParaRPr lang="en-US" dirty="0"/>
          </a:p>
          <a:p>
            <a:r>
              <a:rPr lang="en-US" dirty="0"/>
              <a:t>Connects stakeholders in a trusted health ecosystem..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4130214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Solidity code on the left defines a Medicine structure to store all relevant details for each medicine. It includes functionality to add new records while ensuring only the admin can add data and that duplicates are prevented. The code on the right enables anyone to view medicine details.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svg"/><Relationship Id="rId7"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9.png"/><Relationship Id="rId7"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10.sv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2.jpeg"/><Relationship Id="rId5" Type="http://schemas.openxmlformats.org/officeDocument/2006/relationships/image" Target="../media/image3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9.png"/><Relationship Id="rId7"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28000">
            <a:off x="11944832" y="7418861"/>
            <a:ext cx="7048104" cy="634329"/>
          </a:xfrm>
          <a:custGeom>
            <a:avLst/>
            <a:gdLst/>
            <a:ahLst/>
            <a:cxnLst/>
            <a:rect l="l" t="t" r="r" b="b"/>
            <a:pathLst>
              <a:path w="7048104" h="634329">
                <a:moveTo>
                  <a:pt x="0" y="0"/>
                </a:moveTo>
                <a:lnTo>
                  <a:pt x="7048103" y="0"/>
                </a:lnTo>
                <a:lnTo>
                  <a:pt x="7048103" y="634329"/>
                </a:lnTo>
                <a:lnTo>
                  <a:pt x="0" y="634329"/>
                </a:lnTo>
                <a:lnTo>
                  <a:pt x="0" y="0"/>
                </a:lnTo>
                <a:close/>
              </a:path>
            </a:pathLst>
          </a:custGeom>
          <a:blipFill>
            <a:blip r:embed="rId2"/>
            <a:stretch>
              <a:fillRect/>
            </a:stretch>
          </a:blipFill>
        </p:spPr>
      </p:sp>
      <p:grpSp>
        <p:nvGrpSpPr>
          <p:cNvPr id="3" name="Group 3"/>
          <p:cNvGrpSpPr/>
          <p:nvPr/>
        </p:nvGrpSpPr>
        <p:grpSpPr>
          <a:xfrm rot="-1023918">
            <a:off x="11873293" y="-79325"/>
            <a:ext cx="6848750" cy="5351169"/>
            <a:chOff x="0" y="0"/>
            <a:chExt cx="9131667" cy="7134892"/>
          </a:xfrm>
        </p:grpSpPr>
        <p:pic>
          <p:nvPicPr>
            <p:cNvPr id="4" name="Picture 4"/>
            <p:cNvPicPr>
              <a:picLocks noChangeAspect="1"/>
            </p:cNvPicPr>
            <p:nvPr/>
          </p:nvPicPr>
          <p:blipFill>
            <a:blip r:embed="rId3"/>
            <a:srcRect l="4764" r="4764"/>
            <a:stretch>
              <a:fillRect/>
            </a:stretch>
          </p:blipFill>
          <p:spPr>
            <a:xfrm>
              <a:off x="0" y="0"/>
              <a:ext cx="9131667" cy="7134892"/>
            </a:xfrm>
            <a:prstGeom prst="rect">
              <a:avLst/>
            </a:prstGeom>
          </p:spPr>
        </p:pic>
      </p:grpSp>
      <p:sp>
        <p:nvSpPr>
          <p:cNvPr id="5" name="Freeform 5"/>
          <p:cNvSpPr/>
          <p:nvPr/>
        </p:nvSpPr>
        <p:spPr>
          <a:xfrm>
            <a:off x="2150797" y="-2057400"/>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4">
              <a:alphaModFix amt="42000"/>
              <a:extLst>
                <a:ext uri="{96DAC541-7B7A-43D3-8B79-37D633B846F1}">
                  <asvg:svgBlip xmlns:asvg="http://schemas.microsoft.com/office/drawing/2016/SVG/main" r:embed="rId5"/>
                </a:ext>
              </a:extLst>
            </a:blip>
            <a:stretch>
              <a:fillRect/>
            </a:stretch>
          </a:blipFill>
        </p:spPr>
      </p:sp>
      <p:sp>
        <p:nvSpPr>
          <p:cNvPr id="6" name="Freeform 6"/>
          <p:cNvSpPr/>
          <p:nvPr/>
        </p:nvSpPr>
        <p:spPr>
          <a:xfrm>
            <a:off x="8075466" y="8479911"/>
            <a:ext cx="4804968" cy="4114800"/>
          </a:xfrm>
          <a:custGeom>
            <a:avLst/>
            <a:gdLst/>
            <a:ahLst/>
            <a:cxnLst/>
            <a:rect l="l" t="t" r="r" b="b"/>
            <a:pathLst>
              <a:path w="4804968" h="4114800">
                <a:moveTo>
                  <a:pt x="0" y="0"/>
                </a:moveTo>
                <a:lnTo>
                  <a:pt x="4804969" y="0"/>
                </a:lnTo>
                <a:lnTo>
                  <a:pt x="4804969" y="4114800"/>
                </a:lnTo>
                <a:lnTo>
                  <a:pt x="0" y="4114800"/>
                </a:lnTo>
                <a:lnTo>
                  <a:pt x="0" y="0"/>
                </a:lnTo>
                <a:close/>
              </a:path>
            </a:pathLst>
          </a:custGeom>
          <a:blipFill>
            <a:blip r:embed="rId4">
              <a:alphaModFix amt="42000"/>
              <a:extLst>
                <a:ext uri="{96DAC541-7B7A-43D3-8B79-37D633B846F1}">
                  <asvg:svgBlip xmlns:asvg="http://schemas.microsoft.com/office/drawing/2016/SVG/main" r:embed="rId5"/>
                </a:ext>
              </a:extLst>
            </a:blip>
            <a:stretch>
              <a:fillRect/>
            </a:stretch>
          </a:blipFill>
        </p:spPr>
      </p:sp>
      <p:sp>
        <p:nvSpPr>
          <p:cNvPr id="7" name="Freeform 7"/>
          <p:cNvSpPr/>
          <p:nvPr/>
        </p:nvSpPr>
        <p:spPr>
          <a:xfrm rot="600620">
            <a:off x="11890066" y="4287915"/>
            <a:ext cx="10115723" cy="5676756"/>
          </a:xfrm>
          <a:custGeom>
            <a:avLst/>
            <a:gdLst/>
            <a:ahLst/>
            <a:cxnLst/>
            <a:rect l="l" t="t" r="r" b="b"/>
            <a:pathLst>
              <a:path w="10115723" h="5676756">
                <a:moveTo>
                  <a:pt x="0" y="0"/>
                </a:moveTo>
                <a:lnTo>
                  <a:pt x="10115724" y="0"/>
                </a:lnTo>
                <a:lnTo>
                  <a:pt x="10115724" y="5676756"/>
                </a:lnTo>
                <a:lnTo>
                  <a:pt x="0" y="5676756"/>
                </a:lnTo>
                <a:lnTo>
                  <a:pt x="0" y="0"/>
                </a:lnTo>
                <a:close/>
              </a:path>
            </a:pathLst>
          </a:custGeom>
          <a:blipFill>
            <a:blip r:embed="rId6"/>
            <a:stretch>
              <a:fillRect/>
            </a:stretch>
          </a:blipFill>
        </p:spPr>
      </p:sp>
      <p:sp>
        <p:nvSpPr>
          <p:cNvPr id="8" name="Freeform 8"/>
          <p:cNvSpPr/>
          <p:nvPr/>
        </p:nvSpPr>
        <p:spPr>
          <a:xfrm>
            <a:off x="2575505" y="7126293"/>
            <a:ext cx="3442724" cy="2704103"/>
          </a:xfrm>
          <a:custGeom>
            <a:avLst/>
            <a:gdLst/>
            <a:ahLst/>
            <a:cxnLst/>
            <a:rect l="l" t="t" r="r" b="b"/>
            <a:pathLst>
              <a:path w="3442724" h="2704103">
                <a:moveTo>
                  <a:pt x="0" y="0"/>
                </a:moveTo>
                <a:lnTo>
                  <a:pt x="3442724" y="0"/>
                </a:lnTo>
                <a:lnTo>
                  <a:pt x="3442724" y="2704103"/>
                </a:lnTo>
                <a:lnTo>
                  <a:pt x="0" y="270410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259827" y="3418952"/>
            <a:ext cx="9979058" cy="3187963"/>
          </a:xfrm>
          <a:prstGeom prst="rect">
            <a:avLst/>
          </a:prstGeom>
        </p:spPr>
        <p:txBody>
          <a:bodyPr lIns="0" tIns="0" rIns="0" bIns="0" rtlCol="0" anchor="t">
            <a:spAutoFit/>
          </a:bodyPr>
          <a:lstStyle/>
          <a:p>
            <a:pPr algn="l">
              <a:lnSpc>
                <a:spcPts val="19184"/>
              </a:lnSpc>
            </a:pPr>
            <a:r>
              <a:rPr lang="en-US" sz="19983">
                <a:solidFill>
                  <a:srgbClr val="FFFFFF"/>
                </a:solidFill>
                <a:latin typeface="Anton"/>
                <a:ea typeface="Anton"/>
                <a:cs typeface="Anton"/>
                <a:sym typeface="Anton"/>
              </a:rPr>
              <a:t>MEDIBOND</a:t>
            </a:r>
          </a:p>
          <a:p>
            <a:pPr algn="l">
              <a:lnSpc>
                <a:spcPts val="6432"/>
              </a:lnSpc>
            </a:pPr>
            <a:r>
              <a:rPr lang="en-US" sz="6700">
                <a:solidFill>
                  <a:srgbClr val="008080"/>
                </a:solidFill>
                <a:latin typeface="Anton"/>
                <a:ea typeface="Anton"/>
                <a:cs typeface="Anton"/>
                <a:sym typeface="Anton"/>
              </a:rPr>
              <a:t>BLOCKCHAIN THAT HEALS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Freeform 2"/>
          <p:cNvSpPr/>
          <p:nvPr/>
        </p:nvSpPr>
        <p:spPr>
          <a:xfrm>
            <a:off x="7779055" y="-2319634"/>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5170832" y="2343596"/>
            <a:ext cx="3248269" cy="2895425"/>
            <a:chOff x="0" y="0"/>
            <a:chExt cx="4331025" cy="3860567"/>
          </a:xfrm>
        </p:grpSpPr>
        <p:pic>
          <p:nvPicPr>
            <p:cNvPr id="4" name="Picture 4"/>
            <p:cNvPicPr>
              <a:picLocks noChangeAspect="1"/>
            </p:cNvPicPr>
            <p:nvPr/>
          </p:nvPicPr>
          <p:blipFill>
            <a:blip r:embed="rId4"/>
            <a:srcRect t="6922" b="6922"/>
            <a:stretch>
              <a:fillRect/>
            </a:stretch>
          </p:blipFill>
          <p:spPr>
            <a:xfrm>
              <a:off x="0" y="0"/>
              <a:ext cx="4331025" cy="3860567"/>
            </a:xfrm>
            <a:prstGeom prst="rect">
              <a:avLst/>
            </a:prstGeom>
          </p:spPr>
        </p:pic>
      </p:grpSp>
      <p:sp>
        <p:nvSpPr>
          <p:cNvPr id="5" name="Freeform 5"/>
          <p:cNvSpPr/>
          <p:nvPr/>
        </p:nvSpPr>
        <p:spPr>
          <a:xfrm>
            <a:off x="16501745" y="1028700"/>
            <a:ext cx="757555" cy="189389"/>
          </a:xfrm>
          <a:custGeom>
            <a:avLst/>
            <a:gdLst/>
            <a:ahLst/>
            <a:cxnLst/>
            <a:rect l="l" t="t" r="r" b="b"/>
            <a:pathLst>
              <a:path w="757555" h="189389">
                <a:moveTo>
                  <a:pt x="0" y="0"/>
                </a:moveTo>
                <a:lnTo>
                  <a:pt x="757555" y="0"/>
                </a:lnTo>
                <a:lnTo>
                  <a:pt x="757555" y="189389"/>
                </a:lnTo>
                <a:lnTo>
                  <a:pt x="0" y="1893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2393538" y="2121742"/>
            <a:ext cx="1985962" cy="5521735"/>
            <a:chOff x="0" y="0"/>
            <a:chExt cx="2647950" cy="7362314"/>
          </a:xfrm>
        </p:grpSpPr>
        <p:sp>
          <p:nvSpPr>
            <p:cNvPr id="7" name="AutoShape 7"/>
            <p:cNvSpPr/>
            <p:nvPr/>
          </p:nvSpPr>
          <p:spPr>
            <a:xfrm flipV="1">
              <a:off x="2628900" y="0"/>
              <a:ext cx="0" cy="7362314"/>
            </a:xfrm>
            <a:prstGeom prst="line">
              <a:avLst/>
            </a:prstGeom>
            <a:ln w="38100" cap="flat">
              <a:solidFill>
                <a:srgbClr val="FFFFFF"/>
              </a:solidFill>
              <a:prstDash val="solid"/>
              <a:headEnd type="none" w="sm" len="sm"/>
              <a:tailEnd type="none" w="sm" len="sm"/>
            </a:ln>
          </p:spPr>
        </p:sp>
        <p:sp>
          <p:nvSpPr>
            <p:cNvPr id="8" name="TextBox 8"/>
            <p:cNvSpPr txBox="1"/>
            <p:nvPr/>
          </p:nvSpPr>
          <p:spPr>
            <a:xfrm rot="-5400000">
              <a:off x="-2519839" y="2748439"/>
              <a:ext cx="7362314" cy="1865436"/>
            </a:xfrm>
            <a:prstGeom prst="rect">
              <a:avLst/>
            </a:prstGeom>
          </p:spPr>
          <p:txBody>
            <a:bodyPr lIns="0" tIns="0" rIns="0" bIns="0" rtlCol="0" anchor="t">
              <a:spAutoFit/>
            </a:bodyPr>
            <a:lstStyle/>
            <a:p>
              <a:pPr algn="ctr">
                <a:lnSpc>
                  <a:spcPts val="9917"/>
                </a:lnSpc>
              </a:pPr>
              <a:r>
                <a:rPr lang="en-US" sz="10331">
                  <a:solidFill>
                    <a:srgbClr val="FFFFFF"/>
                  </a:solidFill>
                  <a:latin typeface="Anton"/>
                  <a:ea typeface="Anton"/>
                  <a:cs typeface="Anton"/>
                  <a:sym typeface="Anton"/>
                </a:rPr>
                <a:t>OUR TEAM</a:t>
              </a:r>
            </a:p>
          </p:txBody>
        </p:sp>
      </p:grpSp>
      <p:sp>
        <p:nvSpPr>
          <p:cNvPr id="9" name="Freeform 9"/>
          <p:cNvSpPr/>
          <p:nvPr/>
        </p:nvSpPr>
        <p:spPr>
          <a:xfrm rot="-2172153">
            <a:off x="145174" y="8229600"/>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9236859" y="5491878"/>
            <a:ext cx="3062552" cy="3201039"/>
            <a:chOff x="0" y="0"/>
            <a:chExt cx="4083402" cy="4268052"/>
          </a:xfrm>
        </p:grpSpPr>
        <p:pic>
          <p:nvPicPr>
            <p:cNvPr id="11" name="Picture 11"/>
            <p:cNvPicPr>
              <a:picLocks noChangeAspect="1"/>
            </p:cNvPicPr>
            <p:nvPr/>
          </p:nvPicPr>
          <p:blipFill>
            <a:blip r:embed="rId7"/>
            <a:srcRect t="15577" b="15577"/>
            <a:stretch>
              <a:fillRect/>
            </a:stretch>
          </p:blipFill>
          <p:spPr>
            <a:xfrm>
              <a:off x="0" y="0"/>
              <a:ext cx="4083402" cy="4268052"/>
            </a:xfrm>
            <a:prstGeom prst="rect">
              <a:avLst/>
            </a:prstGeom>
          </p:spPr>
        </p:pic>
      </p:grpSp>
      <p:grpSp>
        <p:nvGrpSpPr>
          <p:cNvPr id="12" name="Group 12"/>
          <p:cNvGrpSpPr/>
          <p:nvPr/>
        </p:nvGrpSpPr>
        <p:grpSpPr>
          <a:xfrm>
            <a:off x="11948099" y="1108753"/>
            <a:ext cx="3302036" cy="2870487"/>
            <a:chOff x="0" y="0"/>
            <a:chExt cx="4402715" cy="3827316"/>
          </a:xfrm>
        </p:grpSpPr>
        <p:pic>
          <p:nvPicPr>
            <p:cNvPr id="13" name="Picture 13"/>
            <p:cNvPicPr>
              <a:picLocks noChangeAspect="1"/>
            </p:cNvPicPr>
            <p:nvPr/>
          </p:nvPicPr>
          <p:blipFill>
            <a:blip r:embed="rId8"/>
            <a:srcRect t="6613" b="6613"/>
            <a:stretch>
              <a:fillRect/>
            </a:stretch>
          </p:blipFill>
          <p:spPr>
            <a:xfrm>
              <a:off x="0" y="0"/>
              <a:ext cx="4402715" cy="3827316"/>
            </a:xfrm>
            <a:prstGeom prst="rect">
              <a:avLst/>
            </a:prstGeom>
          </p:spPr>
        </p:pic>
      </p:grpSp>
      <p:sp>
        <p:nvSpPr>
          <p:cNvPr id="14" name="TextBox 14"/>
          <p:cNvSpPr txBox="1"/>
          <p:nvPr/>
        </p:nvSpPr>
        <p:spPr>
          <a:xfrm>
            <a:off x="4445934" y="5387944"/>
            <a:ext cx="4698066" cy="990399"/>
          </a:xfrm>
          <a:prstGeom prst="rect">
            <a:avLst/>
          </a:prstGeom>
        </p:spPr>
        <p:txBody>
          <a:bodyPr lIns="0" tIns="0" rIns="0" bIns="0" rtlCol="0" anchor="t">
            <a:spAutoFit/>
          </a:bodyPr>
          <a:lstStyle/>
          <a:p>
            <a:pPr algn="ctr">
              <a:lnSpc>
                <a:spcPts val="4295"/>
              </a:lnSpc>
            </a:pPr>
            <a:r>
              <a:rPr lang="en-US" sz="3835" b="1">
                <a:solidFill>
                  <a:srgbClr val="FFFFFF"/>
                </a:solidFill>
                <a:latin typeface="Helvetica World Bold"/>
                <a:ea typeface="Helvetica World Bold"/>
                <a:cs typeface="Helvetica World Bold"/>
                <a:sym typeface="Helvetica World Bold"/>
              </a:rPr>
              <a:t>Amaan</a:t>
            </a:r>
          </a:p>
          <a:p>
            <a:pPr algn="ctr">
              <a:lnSpc>
                <a:spcPts val="2800"/>
              </a:lnSpc>
            </a:pPr>
            <a:r>
              <a:rPr lang="en-US" sz="2500" b="1">
                <a:solidFill>
                  <a:srgbClr val="FFFFFF"/>
                </a:solidFill>
                <a:latin typeface="Helvetica World Bold"/>
                <a:ea typeface="Helvetica World Bold"/>
                <a:cs typeface="Helvetica World Bold"/>
                <a:sym typeface="Helvetica World Bold"/>
              </a:rPr>
              <a:t>AI / ML Engineer</a:t>
            </a:r>
          </a:p>
        </p:txBody>
      </p:sp>
      <p:sp>
        <p:nvSpPr>
          <p:cNvPr id="15" name="TextBox 15"/>
          <p:cNvSpPr txBox="1"/>
          <p:nvPr/>
        </p:nvSpPr>
        <p:spPr>
          <a:xfrm>
            <a:off x="10841806" y="4153101"/>
            <a:ext cx="5514623" cy="990399"/>
          </a:xfrm>
          <a:prstGeom prst="rect">
            <a:avLst/>
          </a:prstGeom>
        </p:spPr>
        <p:txBody>
          <a:bodyPr lIns="0" tIns="0" rIns="0" bIns="0" rtlCol="0" anchor="t">
            <a:spAutoFit/>
          </a:bodyPr>
          <a:lstStyle/>
          <a:p>
            <a:pPr algn="ctr">
              <a:lnSpc>
                <a:spcPts val="4295"/>
              </a:lnSpc>
            </a:pPr>
            <a:r>
              <a:rPr lang="en-US" sz="3835" b="1">
                <a:solidFill>
                  <a:srgbClr val="FFFFFF"/>
                </a:solidFill>
                <a:latin typeface="Helvetica World Bold"/>
                <a:ea typeface="Helvetica World Bold"/>
                <a:cs typeface="Helvetica World Bold"/>
                <a:sym typeface="Helvetica World Bold"/>
              </a:rPr>
              <a:t>Moinuddin</a:t>
            </a:r>
          </a:p>
          <a:p>
            <a:pPr algn="ctr">
              <a:lnSpc>
                <a:spcPts val="2800"/>
              </a:lnSpc>
            </a:pPr>
            <a:r>
              <a:rPr lang="en-US" sz="2500" b="1">
                <a:solidFill>
                  <a:srgbClr val="FFFFFF"/>
                </a:solidFill>
                <a:latin typeface="Helvetica World Bold"/>
                <a:ea typeface="Helvetica World Bold"/>
                <a:cs typeface="Helvetica World Bold"/>
                <a:sym typeface="Helvetica World Bold"/>
              </a:rPr>
              <a:t>Cybersecurity Engineer</a:t>
            </a:r>
          </a:p>
        </p:txBody>
      </p:sp>
      <p:sp>
        <p:nvSpPr>
          <p:cNvPr id="16" name="TextBox 16"/>
          <p:cNvSpPr txBox="1"/>
          <p:nvPr/>
        </p:nvSpPr>
        <p:spPr>
          <a:xfrm>
            <a:off x="8419101" y="8804499"/>
            <a:ext cx="4698066" cy="990579"/>
          </a:xfrm>
          <a:prstGeom prst="rect">
            <a:avLst/>
          </a:prstGeom>
        </p:spPr>
        <p:txBody>
          <a:bodyPr lIns="0" tIns="0" rIns="0" bIns="0" rtlCol="0" anchor="t">
            <a:spAutoFit/>
          </a:bodyPr>
          <a:lstStyle/>
          <a:p>
            <a:pPr algn="ctr">
              <a:lnSpc>
                <a:spcPts val="4295"/>
              </a:lnSpc>
            </a:pPr>
            <a:r>
              <a:rPr lang="en-US" sz="3835" b="1">
                <a:solidFill>
                  <a:srgbClr val="FFFFFF"/>
                </a:solidFill>
                <a:latin typeface="Helvetica World Bold"/>
                <a:ea typeface="Helvetica World Bold"/>
                <a:cs typeface="Helvetica World Bold"/>
                <a:sym typeface="Helvetica World Bold"/>
              </a:rPr>
              <a:t>Wafiq</a:t>
            </a:r>
          </a:p>
          <a:p>
            <a:pPr algn="ctr">
              <a:lnSpc>
                <a:spcPts val="2839"/>
              </a:lnSpc>
            </a:pPr>
            <a:r>
              <a:rPr lang="en-US" sz="2535" b="1">
                <a:solidFill>
                  <a:srgbClr val="FFFFFF"/>
                </a:solidFill>
                <a:latin typeface="Helvetica World Bold"/>
                <a:ea typeface="Helvetica World Bold"/>
                <a:cs typeface="Helvetica World Bold"/>
                <a:sym typeface="Helvetica World Bold"/>
              </a:rPr>
              <a:t>Software Engineer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73">
                <a:alpha val="100000"/>
              </a:srgbClr>
            </a:gs>
            <a:gs pos="100000">
              <a:srgbClr val="6A779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940773" y="1622396"/>
            <a:ext cx="1318527" cy="329632"/>
          </a:xfrm>
          <a:custGeom>
            <a:avLst/>
            <a:gdLst/>
            <a:ahLst/>
            <a:cxnLst/>
            <a:rect l="l" t="t" r="r" b="b"/>
            <a:pathLst>
              <a:path w="1318527" h="329632">
                <a:moveTo>
                  <a:pt x="0" y="0"/>
                </a:moveTo>
                <a:lnTo>
                  <a:pt x="1318527" y="0"/>
                </a:lnTo>
                <a:lnTo>
                  <a:pt x="1318527" y="329632"/>
                </a:lnTo>
                <a:lnTo>
                  <a:pt x="0" y="3296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flipH="1">
            <a:off x="7557719" y="-2540387"/>
            <a:ext cx="6209522" cy="5317609"/>
          </a:xfrm>
          <a:custGeom>
            <a:avLst/>
            <a:gdLst/>
            <a:ahLst/>
            <a:cxnLst/>
            <a:rect l="l" t="t" r="r" b="b"/>
            <a:pathLst>
              <a:path w="6209522" h="5317609">
                <a:moveTo>
                  <a:pt x="6209522" y="0"/>
                </a:moveTo>
                <a:lnTo>
                  <a:pt x="0" y="0"/>
                </a:lnTo>
                <a:lnTo>
                  <a:pt x="0" y="5317608"/>
                </a:lnTo>
                <a:lnTo>
                  <a:pt x="6209522" y="5317608"/>
                </a:lnTo>
                <a:lnTo>
                  <a:pt x="6209522" y="0"/>
                </a:lnTo>
                <a:close/>
              </a:path>
            </a:pathLst>
          </a:custGeom>
          <a:blipFill>
            <a:blip r:embed="rId5">
              <a:alphaModFix amt="42000"/>
              <a:extLst>
                <a:ext uri="{96DAC541-7B7A-43D3-8B79-37D633B846F1}">
                  <asvg:svgBlip xmlns:asvg="http://schemas.microsoft.com/office/drawing/2016/SVG/main" r:embed="rId6"/>
                </a:ext>
              </a:extLst>
            </a:blip>
            <a:stretch>
              <a:fillRect/>
            </a:stretch>
          </a:blipFill>
        </p:spPr>
      </p:sp>
      <p:sp>
        <p:nvSpPr>
          <p:cNvPr id="4" name="Freeform 4"/>
          <p:cNvSpPr/>
          <p:nvPr/>
        </p:nvSpPr>
        <p:spPr>
          <a:xfrm flipH="1">
            <a:off x="14350124" y="7775700"/>
            <a:ext cx="6209522" cy="5317609"/>
          </a:xfrm>
          <a:custGeom>
            <a:avLst/>
            <a:gdLst/>
            <a:ahLst/>
            <a:cxnLst/>
            <a:rect l="l" t="t" r="r" b="b"/>
            <a:pathLst>
              <a:path w="6209522" h="5317609">
                <a:moveTo>
                  <a:pt x="6209521" y="0"/>
                </a:moveTo>
                <a:lnTo>
                  <a:pt x="0" y="0"/>
                </a:lnTo>
                <a:lnTo>
                  <a:pt x="0" y="5317609"/>
                </a:lnTo>
                <a:lnTo>
                  <a:pt x="6209521" y="5317609"/>
                </a:lnTo>
                <a:lnTo>
                  <a:pt x="6209521" y="0"/>
                </a:lnTo>
                <a:close/>
              </a:path>
            </a:pathLst>
          </a:custGeom>
          <a:blipFill>
            <a:blip r:embed="rId5">
              <a:alphaModFix amt="42000"/>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757281" y="1275213"/>
            <a:ext cx="5395067" cy="1353631"/>
            <a:chOff x="0" y="0"/>
            <a:chExt cx="7193423" cy="1804841"/>
          </a:xfrm>
        </p:grpSpPr>
        <p:sp>
          <p:nvSpPr>
            <p:cNvPr id="6" name="Freeform 6"/>
            <p:cNvSpPr/>
            <p:nvPr/>
          </p:nvSpPr>
          <p:spPr>
            <a:xfrm>
              <a:off x="180727" y="1552323"/>
              <a:ext cx="1010073" cy="252518"/>
            </a:xfrm>
            <a:custGeom>
              <a:avLst/>
              <a:gdLst/>
              <a:ahLst/>
              <a:cxnLst/>
              <a:rect l="l" t="t" r="r" b="b"/>
              <a:pathLst>
                <a:path w="1010073" h="252518">
                  <a:moveTo>
                    <a:pt x="0" y="0"/>
                  </a:moveTo>
                  <a:lnTo>
                    <a:pt x="1010073" y="0"/>
                  </a:lnTo>
                  <a:lnTo>
                    <a:pt x="1010073" y="252518"/>
                  </a:lnTo>
                  <a:lnTo>
                    <a:pt x="0" y="2525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0" y="180975"/>
              <a:ext cx="7193423" cy="1371348"/>
            </a:xfrm>
            <a:prstGeom prst="rect">
              <a:avLst/>
            </a:prstGeom>
          </p:spPr>
          <p:txBody>
            <a:bodyPr lIns="0" tIns="0" rIns="0" bIns="0" rtlCol="0" anchor="t">
              <a:spAutoFit/>
            </a:bodyPr>
            <a:lstStyle/>
            <a:p>
              <a:pPr algn="l">
                <a:lnSpc>
                  <a:spcPts val="7371"/>
                </a:lnSpc>
              </a:pPr>
              <a:r>
                <a:rPr lang="en-US" sz="7678">
                  <a:solidFill>
                    <a:srgbClr val="FFFFFF"/>
                  </a:solidFill>
                  <a:latin typeface="Anton"/>
                  <a:ea typeface="Anton"/>
                  <a:cs typeface="Anton"/>
                  <a:sym typeface="Anton"/>
                </a:rPr>
                <a:t>THE PROBLEM</a:t>
              </a:r>
            </a:p>
          </p:txBody>
        </p:sp>
      </p:grpSp>
      <p:sp>
        <p:nvSpPr>
          <p:cNvPr id="8" name="TextBox 8"/>
          <p:cNvSpPr txBox="1"/>
          <p:nvPr/>
        </p:nvSpPr>
        <p:spPr>
          <a:xfrm>
            <a:off x="298793" y="3400903"/>
            <a:ext cx="15641980" cy="718118"/>
          </a:xfrm>
          <a:prstGeom prst="rect">
            <a:avLst/>
          </a:prstGeom>
        </p:spPr>
        <p:txBody>
          <a:bodyPr lIns="0" tIns="0" rIns="0" bIns="0" rtlCol="0" anchor="t">
            <a:spAutoFit/>
          </a:bodyPr>
          <a:lstStyle/>
          <a:p>
            <a:pPr algn="ctr">
              <a:lnSpc>
                <a:spcPts val="5358"/>
              </a:lnSpc>
              <a:spcBef>
                <a:spcPct val="0"/>
              </a:spcBef>
            </a:pPr>
            <a:r>
              <a:rPr lang="en-US" sz="3827" b="1">
                <a:solidFill>
                  <a:srgbClr val="FFFFFF"/>
                </a:solidFill>
                <a:latin typeface="Helvetica World Bold"/>
                <a:ea typeface="Helvetica World Bold"/>
                <a:cs typeface="Helvetica World Bold"/>
                <a:sym typeface="Helvetica World Bold"/>
              </a:rPr>
              <a:t>“What If the Medicine That Was Meant to Heal You... Was Fake?”</a:t>
            </a:r>
          </a:p>
        </p:txBody>
      </p:sp>
      <p:grpSp>
        <p:nvGrpSpPr>
          <p:cNvPr id="9" name="Group 9"/>
          <p:cNvGrpSpPr/>
          <p:nvPr/>
        </p:nvGrpSpPr>
        <p:grpSpPr>
          <a:xfrm>
            <a:off x="1801335" y="5359692"/>
            <a:ext cx="15262976" cy="2067769"/>
            <a:chOff x="0" y="0"/>
            <a:chExt cx="20350634" cy="2757025"/>
          </a:xfrm>
        </p:grpSpPr>
        <p:sp>
          <p:nvSpPr>
            <p:cNvPr id="10" name="TextBox 10"/>
            <p:cNvSpPr txBox="1"/>
            <p:nvPr/>
          </p:nvSpPr>
          <p:spPr>
            <a:xfrm>
              <a:off x="0" y="1891754"/>
              <a:ext cx="20115145" cy="865271"/>
            </a:xfrm>
            <a:prstGeom prst="rect">
              <a:avLst/>
            </a:prstGeom>
          </p:spPr>
          <p:txBody>
            <a:bodyPr lIns="0" tIns="0" rIns="0" bIns="0" rtlCol="0" anchor="t">
              <a:spAutoFit/>
            </a:bodyPr>
            <a:lstStyle/>
            <a:p>
              <a:pPr algn="ctr">
                <a:lnSpc>
                  <a:spcPts val="4970"/>
                </a:lnSpc>
                <a:spcBef>
                  <a:spcPct val="0"/>
                </a:spcBef>
              </a:pPr>
              <a:r>
                <a:rPr lang="en-US" sz="3550" b="1">
                  <a:solidFill>
                    <a:srgbClr val="FFFFFF"/>
                  </a:solidFill>
                  <a:latin typeface="Helvetica World Bold"/>
                  <a:ea typeface="Helvetica World Bold"/>
                  <a:cs typeface="Helvetica World Bold"/>
                  <a:sym typeface="Helvetica World Bold"/>
                </a:rPr>
                <a:t>This isn’t fiction — it’s happening every day around the world.”</a:t>
              </a:r>
            </a:p>
          </p:txBody>
        </p:sp>
        <p:sp>
          <p:nvSpPr>
            <p:cNvPr id="11" name="TextBox 11"/>
            <p:cNvSpPr txBox="1"/>
            <p:nvPr/>
          </p:nvSpPr>
          <p:spPr>
            <a:xfrm>
              <a:off x="0" y="-142875"/>
              <a:ext cx="20350634" cy="1722606"/>
            </a:xfrm>
            <a:prstGeom prst="rect">
              <a:avLst/>
            </a:prstGeom>
          </p:spPr>
          <p:txBody>
            <a:bodyPr lIns="0" tIns="0" rIns="0" bIns="0" rtlCol="0" anchor="t">
              <a:spAutoFit/>
            </a:bodyPr>
            <a:lstStyle/>
            <a:p>
              <a:pPr algn="ctr">
                <a:lnSpc>
                  <a:spcPts val="9981"/>
                </a:lnSpc>
                <a:spcBef>
                  <a:spcPct val="0"/>
                </a:spcBef>
              </a:pPr>
              <a:r>
                <a:rPr lang="en-US" sz="7129" b="1">
                  <a:solidFill>
                    <a:srgbClr val="FFFFFF"/>
                  </a:solidFill>
                  <a:latin typeface="Helvetica World Bold"/>
                  <a:ea typeface="Helvetica World Bold"/>
                  <a:cs typeface="Helvetica World Bold"/>
                  <a:sym typeface="Helvetica World Bold"/>
                </a:rPr>
                <a:t>Over 250,000 people die every year</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27B9A"/>
        </a:solidFill>
        <a:effectLst/>
      </p:bgPr>
    </p:bg>
    <p:spTree>
      <p:nvGrpSpPr>
        <p:cNvPr id="1" name=""/>
        <p:cNvGrpSpPr/>
        <p:nvPr/>
      </p:nvGrpSpPr>
      <p:grpSpPr>
        <a:xfrm>
          <a:off x="0" y="0"/>
          <a:ext cx="0" cy="0"/>
          <a:chOff x="0" y="0"/>
          <a:chExt cx="0" cy="0"/>
        </a:xfrm>
      </p:grpSpPr>
      <p:sp>
        <p:nvSpPr>
          <p:cNvPr id="2" name="Freeform 2"/>
          <p:cNvSpPr/>
          <p:nvPr/>
        </p:nvSpPr>
        <p:spPr>
          <a:xfrm rot="-2815117">
            <a:off x="985458" y="7112989"/>
            <a:ext cx="5032251" cy="6348023"/>
          </a:xfrm>
          <a:custGeom>
            <a:avLst/>
            <a:gdLst/>
            <a:ahLst/>
            <a:cxnLst/>
            <a:rect l="l" t="t" r="r" b="b"/>
            <a:pathLst>
              <a:path w="5032251" h="6348023">
                <a:moveTo>
                  <a:pt x="0" y="0"/>
                </a:moveTo>
                <a:lnTo>
                  <a:pt x="5032250" y="0"/>
                </a:lnTo>
                <a:lnTo>
                  <a:pt x="5032250" y="6348022"/>
                </a:lnTo>
                <a:lnTo>
                  <a:pt x="0" y="63480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98621" y="1386302"/>
            <a:ext cx="6715549" cy="4114800"/>
          </a:xfrm>
          <a:custGeom>
            <a:avLst/>
            <a:gdLst/>
            <a:ahLst/>
            <a:cxnLst/>
            <a:rect l="l" t="t" r="r" b="b"/>
            <a:pathLst>
              <a:path w="6715549" h="4114800">
                <a:moveTo>
                  <a:pt x="0" y="0"/>
                </a:moveTo>
                <a:lnTo>
                  <a:pt x="6715549" y="0"/>
                </a:lnTo>
                <a:lnTo>
                  <a:pt x="671554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703438">
            <a:off x="13068632" y="3982148"/>
            <a:ext cx="5180051" cy="7158362"/>
          </a:xfrm>
          <a:custGeom>
            <a:avLst/>
            <a:gdLst/>
            <a:ahLst/>
            <a:cxnLst/>
            <a:rect l="l" t="t" r="r" b="b"/>
            <a:pathLst>
              <a:path w="5180051" h="7158362">
                <a:moveTo>
                  <a:pt x="0" y="0"/>
                </a:moveTo>
                <a:lnTo>
                  <a:pt x="5180051" y="0"/>
                </a:lnTo>
                <a:lnTo>
                  <a:pt x="5180051" y="7158362"/>
                </a:lnTo>
                <a:lnTo>
                  <a:pt x="0" y="71583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2995706" y="-3525269"/>
            <a:ext cx="6643295" cy="8342038"/>
          </a:xfrm>
          <a:custGeom>
            <a:avLst/>
            <a:gdLst/>
            <a:ahLst/>
            <a:cxnLst/>
            <a:rect l="l" t="t" r="r" b="b"/>
            <a:pathLst>
              <a:path w="6643295" h="8342038">
                <a:moveTo>
                  <a:pt x="0" y="0"/>
                </a:moveTo>
                <a:lnTo>
                  <a:pt x="6643296" y="0"/>
                </a:lnTo>
                <a:lnTo>
                  <a:pt x="6643296" y="8342037"/>
                </a:lnTo>
                <a:lnTo>
                  <a:pt x="0" y="83420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7717801">
            <a:off x="153363" y="-2476475"/>
            <a:ext cx="9150436" cy="12426518"/>
          </a:xfrm>
          <a:custGeom>
            <a:avLst/>
            <a:gdLst/>
            <a:ahLst/>
            <a:cxnLst/>
            <a:rect l="l" t="t" r="r" b="b"/>
            <a:pathLst>
              <a:path w="9150436" h="12426518">
                <a:moveTo>
                  <a:pt x="0" y="0"/>
                </a:moveTo>
                <a:lnTo>
                  <a:pt x="9150436" y="0"/>
                </a:lnTo>
                <a:lnTo>
                  <a:pt x="9150436" y="12426518"/>
                </a:lnTo>
                <a:lnTo>
                  <a:pt x="0" y="12426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3761421">
            <a:off x="7443948" y="-871081"/>
            <a:ext cx="9150436" cy="12426518"/>
          </a:xfrm>
          <a:custGeom>
            <a:avLst/>
            <a:gdLst/>
            <a:ahLst/>
            <a:cxnLst/>
            <a:rect l="l" t="t" r="r" b="b"/>
            <a:pathLst>
              <a:path w="9150436" h="12426518">
                <a:moveTo>
                  <a:pt x="0" y="0"/>
                </a:moveTo>
                <a:lnTo>
                  <a:pt x="9150436" y="0"/>
                </a:lnTo>
                <a:lnTo>
                  <a:pt x="9150436" y="12426518"/>
                </a:lnTo>
                <a:lnTo>
                  <a:pt x="0" y="12426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772256">
            <a:off x="268265" y="850123"/>
            <a:ext cx="11902066" cy="3751097"/>
          </a:xfrm>
          <a:custGeom>
            <a:avLst/>
            <a:gdLst/>
            <a:ahLst/>
            <a:cxnLst/>
            <a:rect l="l" t="t" r="r" b="b"/>
            <a:pathLst>
              <a:path w="11902066" h="3751097">
                <a:moveTo>
                  <a:pt x="0" y="0"/>
                </a:moveTo>
                <a:lnTo>
                  <a:pt x="11902067" y="0"/>
                </a:lnTo>
                <a:lnTo>
                  <a:pt x="11902067" y="3751097"/>
                </a:lnTo>
                <a:lnTo>
                  <a:pt x="0" y="3751097"/>
                </a:lnTo>
                <a:lnTo>
                  <a:pt x="0" y="0"/>
                </a:lnTo>
                <a:close/>
              </a:path>
            </a:pathLst>
          </a:custGeom>
          <a:blipFill>
            <a:blip r:embed="rId12"/>
            <a:stretch>
              <a:fillRect/>
            </a:stretch>
          </a:blipFill>
        </p:spPr>
      </p:sp>
      <p:sp>
        <p:nvSpPr>
          <p:cNvPr id="9" name="Freeform 9"/>
          <p:cNvSpPr/>
          <p:nvPr/>
        </p:nvSpPr>
        <p:spPr>
          <a:xfrm rot="-635669">
            <a:off x="8208693" y="3803511"/>
            <a:ext cx="11982598" cy="2780772"/>
          </a:xfrm>
          <a:custGeom>
            <a:avLst/>
            <a:gdLst/>
            <a:ahLst/>
            <a:cxnLst/>
            <a:rect l="l" t="t" r="r" b="b"/>
            <a:pathLst>
              <a:path w="11982598" h="2780772">
                <a:moveTo>
                  <a:pt x="0" y="0"/>
                </a:moveTo>
                <a:lnTo>
                  <a:pt x="11982599" y="0"/>
                </a:lnTo>
                <a:lnTo>
                  <a:pt x="11982599" y="2780772"/>
                </a:lnTo>
                <a:lnTo>
                  <a:pt x="0" y="2780772"/>
                </a:lnTo>
                <a:lnTo>
                  <a:pt x="0" y="0"/>
                </a:lnTo>
                <a:close/>
              </a:path>
            </a:pathLst>
          </a:custGeom>
          <a:blipFill>
            <a:blip r:embed="rId13"/>
            <a:stretch>
              <a:fillRect/>
            </a:stretch>
          </a:blipFill>
        </p:spPr>
      </p:sp>
      <p:sp>
        <p:nvSpPr>
          <p:cNvPr id="10" name="Freeform 10"/>
          <p:cNvSpPr/>
          <p:nvPr/>
        </p:nvSpPr>
        <p:spPr>
          <a:xfrm>
            <a:off x="682387" y="7092568"/>
            <a:ext cx="12448367" cy="2723080"/>
          </a:xfrm>
          <a:custGeom>
            <a:avLst/>
            <a:gdLst/>
            <a:ahLst/>
            <a:cxnLst/>
            <a:rect l="l" t="t" r="r" b="b"/>
            <a:pathLst>
              <a:path w="12448367" h="2723080">
                <a:moveTo>
                  <a:pt x="0" y="0"/>
                </a:moveTo>
                <a:lnTo>
                  <a:pt x="12448367" y="0"/>
                </a:lnTo>
                <a:lnTo>
                  <a:pt x="12448367" y="2723081"/>
                </a:lnTo>
                <a:lnTo>
                  <a:pt x="0" y="2723081"/>
                </a:lnTo>
                <a:lnTo>
                  <a:pt x="0" y="0"/>
                </a:lnTo>
                <a:close/>
              </a:path>
            </a:pathLst>
          </a:custGeom>
          <a:blipFill>
            <a:blip r:embed="rId1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9486A">
                <a:alpha val="100000"/>
              </a:srgbClr>
            </a:gs>
            <a:gs pos="100000">
              <a:srgbClr val="FCC0A5">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7106485" y="2038538"/>
            <a:ext cx="757555" cy="189389"/>
          </a:xfrm>
          <a:custGeom>
            <a:avLst/>
            <a:gdLst/>
            <a:ahLst/>
            <a:cxnLst/>
            <a:rect l="l" t="t" r="r" b="b"/>
            <a:pathLst>
              <a:path w="757555" h="189389">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896248" y="2202354"/>
            <a:ext cx="757555" cy="189389"/>
          </a:xfrm>
          <a:custGeom>
            <a:avLst/>
            <a:gdLst/>
            <a:ahLst/>
            <a:cxnLst/>
            <a:rect l="l" t="t" r="r" b="b"/>
            <a:pathLst>
              <a:path w="757555" h="189389">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63796" y="878759"/>
            <a:ext cx="7754271" cy="1323596"/>
          </a:xfrm>
          <a:prstGeom prst="rect">
            <a:avLst/>
          </a:prstGeom>
        </p:spPr>
        <p:txBody>
          <a:bodyPr lIns="0" tIns="0" rIns="0" bIns="0" rtlCol="0" anchor="t">
            <a:spAutoFit/>
          </a:bodyPr>
          <a:lstStyle/>
          <a:p>
            <a:pPr algn="l">
              <a:lnSpc>
                <a:spcPts val="9888"/>
              </a:lnSpc>
            </a:pPr>
            <a:r>
              <a:rPr lang="en-US" sz="10300">
                <a:solidFill>
                  <a:srgbClr val="FFFFFF"/>
                </a:solidFill>
                <a:latin typeface="Anton"/>
                <a:ea typeface="Anton"/>
                <a:cs typeface="Anton"/>
                <a:sym typeface="Anton"/>
              </a:rPr>
              <a:t>THE SOLUTION</a:t>
            </a:r>
          </a:p>
        </p:txBody>
      </p:sp>
      <p:grpSp>
        <p:nvGrpSpPr>
          <p:cNvPr id="5" name="Group 5"/>
          <p:cNvGrpSpPr/>
          <p:nvPr/>
        </p:nvGrpSpPr>
        <p:grpSpPr>
          <a:xfrm>
            <a:off x="6788426" y="4066212"/>
            <a:ext cx="8338470" cy="5587425"/>
            <a:chOff x="0" y="0"/>
            <a:chExt cx="11117960" cy="7449900"/>
          </a:xfrm>
        </p:grpSpPr>
        <p:sp>
          <p:nvSpPr>
            <p:cNvPr id="6" name="Freeform 6"/>
            <p:cNvSpPr/>
            <p:nvPr/>
          </p:nvSpPr>
          <p:spPr>
            <a:xfrm>
              <a:off x="7434494" y="0"/>
              <a:ext cx="3683466" cy="3683466"/>
            </a:xfrm>
            <a:custGeom>
              <a:avLst/>
              <a:gdLst/>
              <a:ahLst/>
              <a:cxnLst/>
              <a:rect l="l" t="t" r="r" b="b"/>
              <a:pathLst>
                <a:path w="3683466" h="3683466">
                  <a:moveTo>
                    <a:pt x="0" y="0"/>
                  </a:moveTo>
                  <a:lnTo>
                    <a:pt x="3683466" y="0"/>
                  </a:lnTo>
                  <a:lnTo>
                    <a:pt x="3683466" y="3683466"/>
                  </a:lnTo>
                  <a:lnTo>
                    <a:pt x="0" y="3683466"/>
                  </a:lnTo>
                  <a:lnTo>
                    <a:pt x="0" y="0"/>
                  </a:lnTo>
                  <a:close/>
                </a:path>
              </a:pathLst>
            </a:custGeom>
            <a:blipFill>
              <a:blip r:embed="rId5"/>
              <a:stretch>
                <a:fillRect/>
              </a:stretch>
            </a:blipFill>
          </p:spPr>
        </p:sp>
        <p:sp>
          <p:nvSpPr>
            <p:cNvPr id="7" name="Freeform 7"/>
            <p:cNvSpPr/>
            <p:nvPr/>
          </p:nvSpPr>
          <p:spPr>
            <a:xfrm>
              <a:off x="3733643" y="0"/>
              <a:ext cx="3700851" cy="3700851"/>
            </a:xfrm>
            <a:custGeom>
              <a:avLst/>
              <a:gdLst/>
              <a:ahLst/>
              <a:cxnLst/>
              <a:rect l="l" t="t" r="r" b="b"/>
              <a:pathLst>
                <a:path w="3700851" h="3700851">
                  <a:moveTo>
                    <a:pt x="0" y="0"/>
                  </a:moveTo>
                  <a:lnTo>
                    <a:pt x="3700851" y="0"/>
                  </a:lnTo>
                  <a:lnTo>
                    <a:pt x="3700851" y="3700851"/>
                  </a:lnTo>
                  <a:lnTo>
                    <a:pt x="0" y="3700851"/>
                  </a:lnTo>
                  <a:lnTo>
                    <a:pt x="0" y="0"/>
                  </a:lnTo>
                  <a:close/>
                </a:path>
              </a:pathLst>
            </a:custGeom>
            <a:blipFill>
              <a:blip r:embed="rId6"/>
              <a:stretch>
                <a:fillRect/>
              </a:stretch>
            </a:blipFill>
          </p:spPr>
        </p:sp>
        <p:sp>
          <p:nvSpPr>
            <p:cNvPr id="8" name="Freeform 8"/>
            <p:cNvSpPr/>
            <p:nvPr/>
          </p:nvSpPr>
          <p:spPr>
            <a:xfrm>
              <a:off x="0" y="3716257"/>
              <a:ext cx="3733643" cy="3733643"/>
            </a:xfrm>
            <a:custGeom>
              <a:avLst/>
              <a:gdLst/>
              <a:ahLst/>
              <a:cxnLst/>
              <a:rect l="l" t="t" r="r" b="b"/>
              <a:pathLst>
                <a:path w="3733643" h="3733643">
                  <a:moveTo>
                    <a:pt x="0" y="0"/>
                  </a:moveTo>
                  <a:lnTo>
                    <a:pt x="3733643" y="0"/>
                  </a:lnTo>
                  <a:lnTo>
                    <a:pt x="3733643" y="3733643"/>
                  </a:lnTo>
                  <a:lnTo>
                    <a:pt x="0" y="3733643"/>
                  </a:lnTo>
                  <a:lnTo>
                    <a:pt x="0" y="0"/>
                  </a:lnTo>
                  <a:close/>
                </a:path>
              </a:pathLst>
            </a:custGeom>
            <a:blipFill>
              <a:blip r:embed="rId7"/>
              <a:stretch>
                <a:fillRect/>
              </a:stretch>
            </a:blipFill>
          </p:spPr>
        </p:sp>
        <p:sp>
          <p:nvSpPr>
            <p:cNvPr id="9" name="Freeform 9"/>
            <p:cNvSpPr/>
            <p:nvPr/>
          </p:nvSpPr>
          <p:spPr>
            <a:xfrm>
              <a:off x="17386" y="0"/>
              <a:ext cx="3716257" cy="3716257"/>
            </a:xfrm>
            <a:custGeom>
              <a:avLst/>
              <a:gdLst/>
              <a:ahLst/>
              <a:cxnLst/>
              <a:rect l="l" t="t" r="r" b="b"/>
              <a:pathLst>
                <a:path w="3716257" h="3716257">
                  <a:moveTo>
                    <a:pt x="0" y="0"/>
                  </a:moveTo>
                  <a:lnTo>
                    <a:pt x="3716257" y="0"/>
                  </a:lnTo>
                  <a:lnTo>
                    <a:pt x="3716257" y="3716257"/>
                  </a:lnTo>
                  <a:lnTo>
                    <a:pt x="0" y="3716257"/>
                  </a:lnTo>
                  <a:lnTo>
                    <a:pt x="0" y="0"/>
                  </a:lnTo>
                  <a:close/>
                </a:path>
              </a:pathLst>
            </a:custGeom>
            <a:blipFill>
              <a:blip r:embed="rId8"/>
              <a:stretch>
                <a:fillRect/>
              </a:stretch>
            </a:blipFill>
          </p:spPr>
        </p:sp>
        <p:sp>
          <p:nvSpPr>
            <p:cNvPr id="10" name="Freeform 10"/>
            <p:cNvSpPr/>
            <p:nvPr/>
          </p:nvSpPr>
          <p:spPr>
            <a:xfrm>
              <a:off x="3733643" y="3716257"/>
              <a:ext cx="3700851" cy="3733643"/>
            </a:xfrm>
            <a:custGeom>
              <a:avLst/>
              <a:gdLst/>
              <a:ahLst/>
              <a:cxnLst/>
              <a:rect l="l" t="t" r="r" b="b"/>
              <a:pathLst>
                <a:path w="3700851" h="3733643">
                  <a:moveTo>
                    <a:pt x="0" y="0"/>
                  </a:moveTo>
                  <a:lnTo>
                    <a:pt x="3700851" y="0"/>
                  </a:lnTo>
                  <a:lnTo>
                    <a:pt x="3700851" y="3733643"/>
                  </a:lnTo>
                  <a:lnTo>
                    <a:pt x="0" y="3733643"/>
                  </a:lnTo>
                  <a:lnTo>
                    <a:pt x="0" y="0"/>
                  </a:lnTo>
                  <a:close/>
                </a:path>
              </a:pathLst>
            </a:custGeom>
            <a:blipFill>
              <a:blip r:embed="rId9"/>
              <a:stretch>
                <a:fillRect r="-886"/>
              </a:stretch>
            </a:blipFill>
          </p:spPr>
        </p:sp>
      </p:grpSp>
      <p:sp>
        <p:nvSpPr>
          <p:cNvPr id="11" name="TextBox 11"/>
          <p:cNvSpPr txBox="1"/>
          <p:nvPr/>
        </p:nvSpPr>
        <p:spPr>
          <a:xfrm>
            <a:off x="587194" y="2740332"/>
            <a:ext cx="17267103" cy="1456055"/>
          </a:xfrm>
          <a:prstGeom prst="rect">
            <a:avLst/>
          </a:prstGeom>
        </p:spPr>
        <p:txBody>
          <a:bodyPr lIns="0" tIns="0" rIns="0" bIns="0" rtlCol="0" anchor="t">
            <a:spAutoFit/>
          </a:bodyPr>
          <a:lstStyle/>
          <a:p>
            <a:pPr algn="ctr">
              <a:lnSpc>
                <a:spcPts val="6020"/>
              </a:lnSpc>
              <a:spcBef>
                <a:spcPct val="0"/>
              </a:spcBef>
            </a:pPr>
            <a:r>
              <a:rPr lang="en-US" sz="4300" b="1">
                <a:solidFill>
                  <a:srgbClr val="FFFFFF"/>
                </a:solidFill>
                <a:latin typeface="Helvetica World Bold"/>
                <a:ea typeface="Helvetica World Bold"/>
                <a:cs typeface="Helvetica World Bold"/>
                <a:sym typeface="Helvetica World Bold"/>
              </a:rPr>
              <a:t>“Our Solution:  MediBond — Verifying Medicines with Blockchain”</a:t>
            </a:r>
          </a:p>
          <a:p>
            <a:pPr algn="ctr">
              <a:lnSpc>
                <a:spcPts val="5040"/>
              </a:lnSpc>
              <a:spcBef>
                <a:spcPct val="0"/>
              </a:spcBef>
            </a:pPr>
            <a:endParaRPr lang="en-US" sz="4300" b="1">
              <a:solidFill>
                <a:srgbClr val="FFFFFF"/>
              </a:solidFill>
              <a:latin typeface="Helvetica World Bold"/>
              <a:ea typeface="Helvetica World Bold"/>
              <a:cs typeface="Helvetica World Bold"/>
              <a:sym typeface="Helvetica World Bold"/>
            </a:endParaRPr>
          </a:p>
        </p:txBody>
      </p:sp>
      <p:sp>
        <p:nvSpPr>
          <p:cNvPr id="12" name="TextBox 12"/>
          <p:cNvSpPr txBox="1"/>
          <p:nvPr/>
        </p:nvSpPr>
        <p:spPr>
          <a:xfrm>
            <a:off x="1478608" y="5220716"/>
            <a:ext cx="4243812" cy="2322717"/>
          </a:xfrm>
          <a:prstGeom prst="rect">
            <a:avLst/>
          </a:prstGeom>
        </p:spPr>
        <p:txBody>
          <a:bodyPr lIns="0" tIns="0" rIns="0" bIns="0" rtlCol="0" anchor="t">
            <a:spAutoFit/>
          </a:bodyPr>
          <a:lstStyle/>
          <a:p>
            <a:pPr algn="ctr">
              <a:lnSpc>
                <a:spcPts val="8581"/>
              </a:lnSpc>
            </a:pPr>
            <a:r>
              <a:rPr lang="en-US" sz="6129" b="1">
                <a:solidFill>
                  <a:srgbClr val="FFFFFF"/>
                </a:solidFill>
                <a:latin typeface="Helvetica World Bold"/>
                <a:ea typeface="Helvetica World Bold"/>
                <a:cs typeface="Helvetica World Bold"/>
                <a:sym typeface="Helvetica World Bold"/>
              </a:rPr>
              <a:t>We follow</a:t>
            </a:r>
          </a:p>
          <a:p>
            <a:pPr algn="ctr">
              <a:lnSpc>
                <a:spcPts val="8581"/>
              </a:lnSpc>
              <a:spcBef>
                <a:spcPct val="0"/>
              </a:spcBef>
            </a:pPr>
            <a:r>
              <a:rPr lang="en-US" sz="6129" b="1">
                <a:solidFill>
                  <a:srgbClr val="FFFFFF"/>
                </a:solidFill>
                <a:latin typeface="Helvetica World Bold"/>
                <a:ea typeface="Helvetica World Bold"/>
                <a:cs typeface="Helvetica World Bold"/>
                <a:sym typeface="Helvetica World Bold"/>
              </a:rPr>
              <a:t>5 UN SDG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Freeform 2"/>
          <p:cNvSpPr/>
          <p:nvPr/>
        </p:nvSpPr>
        <p:spPr>
          <a:xfrm>
            <a:off x="649923" y="1028700"/>
            <a:ext cx="757555" cy="189389"/>
          </a:xfrm>
          <a:custGeom>
            <a:avLst/>
            <a:gdLst/>
            <a:ahLst/>
            <a:cxnLst/>
            <a:rect l="l" t="t" r="r" b="b"/>
            <a:pathLst>
              <a:path w="757555" h="189389">
                <a:moveTo>
                  <a:pt x="0" y="0"/>
                </a:moveTo>
                <a:lnTo>
                  <a:pt x="757554" y="0"/>
                </a:lnTo>
                <a:lnTo>
                  <a:pt x="757554"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6507030" y="3446537"/>
            <a:ext cx="3313593" cy="5586515"/>
            <a:chOff x="0" y="0"/>
            <a:chExt cx="4418124" cy="7448687"/>
          </a:xfrm>
        </p:grpSpPr>
        <p:sp>
          <p:nvSpPr>
            <p:cNvPr id="4" name="Freeform 4"/>
            <p:cNvSpPr/>
            <p:nvPr/>
          </p:nvSpPr>
          <p:spPr>
            <a:xfrm>
              <a:off x="0" y="0"/>
              <a:ext cx="4418124" cy="4418124"/>
            </a:xfrm>
            <a:custGeom>
              <a:avLst/>
              <a:gdLst/>
              <a:ahLst/>
              <a:cxnLst/>
              <a:rect l="l" t="t" r="r" b="b"/>
              <a:pathLst>
                <a:path w="4418124" h="4418124">
                  <a:moveTo>
                    <a:pt x="0" y="0"/>
                  </a:moveTo>
                  <a:lnTo>
                    <a:pt x="4418124" y="0"/>
                  </a:lnTo>
                  <a:lnTo>
                    <a:pt x="4418124" y="4418124"/>
                  </a:lnTo>
                  <a:lnTo>
                    <a:pt x="0" y="4418124"/>
                  </a:lnTo>
                  <a:lnTo>
                    <a:pt x="0" y="0"/>
                  </a:lnTo>
                  <a:close/>
                </a:path>
              </a:pathLst>
            </a:custGeom>
            <a:blipFill>
              <a:blip r:embed="rId5"/>
              <a:stretch>
                <a:fillRect/>
              </a:stretch>
            </a:blipFill>
          </p:spPr>
        </p:sp>
        <p:sp>
          <p:nvSpPr>
            <p:cNvPr id="5" name="TextBox 5"/>
            <p:cNvSpPr txBox="1"/>
            <p:nvPr/>
          </p:nvSpPr>
          <p:spPr>
            <a:xfrm>
              <a:off x="1154962" y="4595613"/>
              <a:ext cx="2360998" cy="983192"/>
            </a:xfrm>
            <a:prstGeom prst="rect">
              <a:avLst/>
            </a:prstGeom>
          </p:spPr>
          <p:txBody>
            <a:bodyPr lIns="0" tIns="0" rIns="0" bIns="0" rtlCol="0" anchor="t">
              <a:spAutoFit/>
            </a:bodyPr>
            <a:lstStyle/>
            <a:p>
              <a:pPr algn="ctr">
                <a:lnSpc>
                  <a:spcPts val="5739"/>
                </a:lnSpc>
                <a:spcBef>
                  <a:spcPct val="0"/>
                </a:spcBef>
              </a:pPr>
              <a:r>
                <a:rPr lang="en-US" sz="4099" b="1">
                  <a:solidFill>
                    <a:srgbClr val="FFFFFF"/>
                  </a:solidFill>
                  <a:latin typeface="Helvetica World Bold"/>
                  <a:ea typeface="Helvetica World Bold"/>
                  <a:cs typeface="Helvetica World Bold"/>
                  <a:sym typeface="Helvetica World Bold"/>
                </a:rPr>
                <a:t>Market </a:t>
              </a:r>
            </a:p>
          </p:txBody>
        </p:sp>
        <p:sp>
          <p:nvSpPr>
            <p:cNvPr id="6" name="TextBox 6"/>
            <p:cNvSpPr txBox="1"/>
            <p:nvPr/>
          </p:nvSpPr>
          <p:spPr>
            <a:xfrm>
              <a:off x="641326" y="6186082"/>
              <a:ext cx="3776798" cy="1262605"/>
            </a:xfrm>
            <a:prstGeom prst="rect">
              <a:avLst/>
            </a:prstGeom>
          </p:spPr>
          <p:txBody>
            <a:bodyPr lIns="0" tIns="0" rIns="0" bIns="0" rtlCol="0" anchor="t">
              <a:spAutoFit/>
            </a:bodyPr>
            <a:lstStyle/>
            <a:p>
              <a:pPr algn="ctr">
                <a:lnSpc>
                  <a:spcPts val="3541"/>
                </a:lnSpc>
              </a:pPr>
              <a:r>
                <a:rPr lang="en-US" sz="2529" b="1">
                  <a:solidFill>
                    <a:srgbClr val="FFFFFF"/>
                  </a:solidFill>
                  <a:latin typeface="Helvetica World Bold"/>
                  <a:ea typeface="Helvetica World Bold"/>
                  <a:cs typeface="Helvetica World Bold"/>
                  <a:sym typeface="Helvetica World Bold"/>
                </a:rPr>
                <a:t>1.6 Trillion Dollars </a:t>
              </a:r>
            </a:p>
            <a:p>
              <a:pPr algn="ctr">
                <a:lnSpc>
                  <a:spcPts val="3541"/>
                </a:lnSpc>
                <a:spcBef>
                  <a:spcPct val="0"/>
                </a:spcBef>
              </a:pPr>
              <a:r>
                <a:rPr lang="en-US" sz="2529" b="1">
                  <a:solidFill>
                    <a:srgbClr val="FFFFFF"/>
                  </a:solidFill>
                  <a:latin typeface="Helvetica World Bold"/>
                  <a:ea typeface="Helvetica World Bold"/>
                  <a:cs typeface="Helvetica World Bold"/>
                  <a:sym typeface="Helvetica World Bold"/>
                </a:rPr>
                <a:t>in Revenue </a:t>
              </a:r>
            </a:p>
          </p:txBody>
        </p:sp>
      </p:grpSp>
      <p:sp>
        <p:nvSpPr>
          <p:cNvPr id="7" name="Freeform 7"/>
          <p:cNvSpPr/>
          <p:nvPr/>
        </p:nvSpPr>
        <p:spPr>
          <a:xfrm>
            <a:off x="10940062" y="3446537"/>
            <a:ext cx="6572696" cy="3697141"/>
          </a:xfrm>
          <a:custGeom>
            <a:avLst/>
            <a:gdLst/>
            <a:ahLst/>
            <a:cxnLst/>
            <a:rect l="l" t="t" r="r" b="b"/>
            <a:pathLst>
              <a:path w="6572696" h="3697141">
                <a:moveTo>
                  <a:pt x="0" y="0"/>
                </a:moveTo>
                <a:lnTo>
                  <a:pt x="6572695" y="0"/>
                </a:lnTo>
                <a:lnTo>
                  <a:pt x="6572695" y="3697142"/>
                </a:lnTo>
                <a:lnTo>
                  <a:pt x="0" y="3697142"/>
                </a:lnTo>
                <a:lnTo>
                  <a:pt x="0" y="0"/>
                </a:lnTo>
                <a:close/>
              </a:path>
            </a:pathLst>
          </a:custGeom>
          <a:blipFill>
            <a:blip r:embed="rId6"/>
            <a:stretch>
              <a:fillRect/>
            </a:stretch>
          </a:blipFill>
        </p:spPr>
      </p:sp>
      <p:sp>
        <p:nvSpPr>
          <p:cNvPr id="8" name="TextBox 8"/>
          <p:cNvSpPr txBox="1"/>
          <p:nvPr/>
        </p:nvSpPr>
        <p:spPr>
          <a:xfrm>
            <a:off x="468819" y="1519910"/>
            <a:ext cx="17994041" cy="1024909"/>
          </a:xfrm>
          <a:prstGeom prst="rect">
            <a:avLst/>
          </a:prstGeom>
        </p:spPr>
        <p:txBody>
          <a:bodyPr lIns="0" tIns="0" rIns="0" bIns="0" rtlCol="0" anchor="t">
            <a:spAutoFit/>
          </a:bodyPr>
          <a:lstStyle/>
          <a:p>
            <a:pPr algn="l">
              <a:lnSpc>
                <a:spcPts val="7680"/>
              </a:lnSpc>
            </a:pPr>
            <a:r>
              <a:rPr lang="en-US" sz="8000">
                <a:solidFill>
                  <a:srgbClr val="FFFFFF"/>
                </a:solidFill>
                <a:latin typeface="Anton"/>
                <a:ea typeface="Anton"/>
                <a:cs typeface="Anton"/>
                <a:sym typeface="Anton"/>
              </a:rPr>
              <a:t>WE MOVE GLOBALLY WITH ENDLESS LIMIT</a:t>
            </a:r>
          </a:p>
        </p:txBody>
      </p:sp>
      <p:sp>
        <p:nvSpPr>
          <p:cNvPr id="9" name="TextBox 9"/>
          <p:cNvSpPr txBox="1"/>
          <p:nvPr/>
        </p:nvSpPr>
        <p:spPr>
          <a:xfrm>
            <a:off x="10940062" y="7605688"/>
            <a:ext cx="6840400" cy="1427365"/>
          </a:xfrm>
          <a:prstGeom prst="rect">
            <a:avLst/>
          </a:prstGeom>
        </p:spPr>
        <p:txBody>
          <a:bodyPr lIns="0" tIns="0" rIns="0" bIns="0" rtlCol="0" anchor="t">
            <a:spAutoFit/>
          </a:bodyPr>
          <a:lstStyle/>
          <a:p>
            <a:pPr algn="ctr">
              <a:lnSpc>
                <a:spcPts val="3541"/>
              </a:lnSpc>
              <a:spcBef>
                <a:spcPct val="0"/>
              </a:spcBef>
            </a:pPr>
            <a:r>
              <a:rPr lang="en-US" sz="2529" b="1">
                <a:solidFill>
                  <a:srgbClr val="FFFFFF"/>
                </a:solidFill>
                <a:latin typeface="Helvetica World Bold"/>
                <a:ea typeface="Helvetica World Bold"/>
                <a:cs typeface="Helvetica World Bold"/>
                <a:sym typeface="Helvetica World Bold"/>
              </a:rPr>
              <a:t>DIAMANTE will enable us to enter the vast pharmaceutical industry and drive significant growth.   </a:t>
            </a:r>
          </a:p>
        </p:txBody>
      </p:sp>
      <p:grpSp>
        <p:nvGrpSpPr>
          <p:cNvPr id="10" name="Group 10"/>
          <p:cNvGrpSpPr/>
          <p:nvPr/>
        </p:nvGrpSpPr>
        <p:grpSpPr>
          <a:xfrm>
            <a:off x="649923" y="3598145"/>
            <a:ext cx="5398835" cy="5882571"/>
            <a:chOff x="0" y="0"/>
            <a:chExt cx="7198446" cy="7843427"/>
          </a:xfrm>
        </p:grpSpPr>
        <p:sp>
          <p:nvSpPr>
            <p:cNvPr id="11" name="Freeform 11"/>
            <p:cNvSpPr/>
            <p:nvPr/>
          </p:nvSpPr>
          <p:spPr>
            <a:xfrm>
              <a:off x="1563146" y="0"/>
              <a:ext cx="3881258" cy="4525234"/>
            </a:xfrm>
            <a:custGeom>
              <a:avLst/>
              <a:gdLst/>
              <a:ahLst/>
              <a:cxnLst/>
              <a:rect l="l" t="t" r="r" b="b"/>
              <a:pathLst>
                <a:path w="3881258" h="4525234">
                  <a:moveTo>
                    <a:pt x="0" y="0"/>
                  </a:moveTo>
                  <a:lnTo>
                    <a:pt x="3881258" y="0"/>
                  </a:lnTo>
                  <a:lnTo>
                    <a:pt x="3881258" y="4525234"/>
                  </a:lnTo>
                  <a:lnTo>
                    <a:pt x="0" y="4525234"/>
                  </a:lnTo>
                  <a:lnTo>
                    <a:pt x="0" y="0"/>
                  </a:lnTo>
                  <a:close/>
                </a:path>
              </a:pathLst>
            </a:custGeom>
            <a:blipFill>
              <a:blip r:embed="rId7"/>
              <a:stretch>
                <a:fillRect/>
              </a:stretch>
            </a:blipFill>
          </p:spPr>
        </p:sp>
        <p:sp>
          <p:nvSpPr>
            <p:cNvPr id="12" name="TextBox 12"/>
            <p:cNvSpPr txBox="1"/>
            <p:nvPr/>
          </p:nvSpPr>
          <p:spPr>
            <a:xfrm>
              <a:off x="0" y="5362440"/>
              <a:ext cx="7198446" cy="2480987"/>
            </a:xfrm>
            <a:prstGeom prst="rect">
              <a:avLst/>
            </a:prstGeom>
          </p:spPr>
          <p:txBody>
            <a:bodyPr lIns="0" tIns="0" rIns="0" bIns="0" rtlCol="0" anchor="t">
              <a:spAutoFit/>
            </a:bodyPr>
            <a:lstStyle/>
            <a:p>
              <a:pPr algn="ctr">
                <a:lnSpc>
                  <a:spcPts val="3541"/>
                </a:lnSpc>
              </a:pPr>
              <a:r>
                <a:rPr lang="en-US" sz="2529" b="1">
                  <a:solidFill>
                    <a:srgbClr val="FFFFFF"/>
                  </a:solidFill>
                  <a:latin typeface="Helvetica World Bold"/>
                  <a:ea typeface="Helvetica World Bold"/>
                  <a:cs typeface="Helvetica World Bold"/>
                  <a:sym typeface="Helvetica World Bold"/>
                </a:rPr>
                <a:t>Our target is endless </a:t>
              </a:r>
            </a:p>
            <a:p>
              <a:pPr algn="ctr">
                <a:lnSpc>
                  <a:spcPts val="3541"/>
                </a:lnSpc>
              </a:pPr>
              <a:r>
                <a:rPr lang="en-US" sz="2529" b="1">
                  <a:solidFill>
                    <a:srgbClr val="FFFFFF"/>
                  </a:solidFill>
                  <a:latin typeface="Helvetica World Bold"/>
                  <a:ea typeface="Helvetica World Bold"/>
                  <a:cs typeface="Helvetica World Bold"/>
                  <a:sym typeface="Helvetica World Bold"/>
                </a:rPr>
                <a:t>It includes all people of all</a:t>
              </a:r>
            </a:p>
            <a:p>
              <a:pPr algn="ctr">
                <a:lnSpc>
                  <a:spcPts val="3541"/>
                </a:lnSpc>
              </a:pPr>
              <a:r>
                <a:rPr lang="en-US" sz="2529" b="1">
                  <a:solidFill>
                    <a:srgbClr val="FFFFFF"/>
                  </a:solidFill>
                  <a:latin typeface="Helvetica World Bold"/>
                  <a:ea typeface="Helvetica World Bold"/>
                  <a:cs typeface="Helvetica World Bold"/>
                  <a:sym typeface="Helvetica World Bold"/>
                </a:rPr>
                <a:t>age groups and countries </a:t>
              </a:r>
            </a:p>
            <a:p>
              <a:pPr algn="ctr">
                <a:lnSpc>
                  <a:spcPts val="3541"/>
                </a:lnSpc>
                <a:spcBef>
                  <a:spcPct val="0"/>
                </a:spcBef>
              </a:pPr>
              <a:endParaRPr lang="en-US" sz="2529" b="1">
                <a:solidFill>
                  <a:srgbClr val="FFFFFF"/>
                </a:solidFill>
                <a:latin typeface="Helvetica World Bold"/>
                <a:ea typeface="Helvetica World Bold"/>
                <a:cs typeface="Helvetica World Bold"/>
                <a:sym typeface="Helvetica World Bold"/>
              </a:endParaRPr>
            </a:p>
          </p:txBody>
        </p:sp>
        <p:sp>
          <p:nvSpPr>
            <p:cNvPr id="13" name="TextBox 13"/>
            <p:cNvSpPr txBox="1"/>
            <p:nvPr/>
          </p:nvSpPr>
          <p:spPr>
            <a:xfrm>
              <a:off x="1563146" y="4198527"/>
              <a:ext cx="3403332" cy="971976"/>
            </a:xfrm>
            <a:prstGeom prst="rect">
              <a:avLst/>
            </a:prstGeom>
          </p:spPr>
          <p:txBody>
            <a:bodyPr lIns="0" tIns="0" rIns="0" bIns="0" rtlCol="0" anchor="t">
              <a:spAutoFit/>
            </a:bodyPr>
            <a:lstStyle/>
            <a:p>
              <a:pPr algn="ctr">
                <a:lnSpc>
                  <a:spcPts val="5573"/>
                </a:lnSpc>
                <a:spcBef>
                  <a:spcPct val="0"/>
                </a:spcBef>
              </a:pPr>
              <a:r>
                <a:rPr lang="en-US" sz="3981" b="1">
                  <a:solidFill>
                    <a:srgbClr val="FFFFFF"/>
                  </a:solidFill>
                  <a:latin typeface="Helvetica World Bold"/>
                  <a:ea typeface="Helvetica World Bold"/>
                  <a:cs typeface="Helvetica World Bold"/>
                  <a:sym typeface="Helvetica World Bold"/>
                </a:rPr>
                <a:t>Target</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Freeform 2"/>
          <p:cNvSpPr/>
          <p:nvPr/>
        </p:nvSpPr>
        <p:spPr>
          <a:xfrm>
            <a:off x="16501745" y="1140021"/>
            <a:ext cx="757555" cy="189389"/>
          </a:xfrm>
          <a:custGeom>
            <a:avLst/>
            <a:gdLst/>
            <a:ahLst/>
            <a:cxnLst/>
            <a:rect l="l" t="t" r="r" b="b"/>
            <a:pathLst>
              <a:path w="757555" h="189389">
                <a:moveTo>
                  <a:pt x="0" y="0"/>
                </a:moveTo>
                <a:lnTo>
                  <a:pt x="757555" y="0"/>
                </a:lnTo>
                <a:lnTo>
                  <a:pt x="757555" y="189389"/>
                </a:lnTo>
                <a:lnTo>
                  <a:pt x="0" y="1893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49923" y="839311"/>
            <a:ext cx="757555" cy="189389"/>
          </a:xfrm>
          <a:custGeom>
            <a:avLst/>
            <a:gdLst/>
            <a:ahLst/>
            <a:cxnLst/>
            <a:rect l="l" t="t" r="r" b="b"/>
            <a:pathLst>
              <a:path w="757555" h="189389">
                <a:moveTo>
                  <a:pt x="0" y="0"/>
                </a:moveTo>
                <a:lnTo>
                  <a:pt x="757554" y="0"/>
                </a:lnTo>
                <a:lnTo>
                  <a:pt x="757554" y="189389"/>
                </a:lnTo>
                <a:lnTo>
                  <a:pt x="0" y="1893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52753" y="1228725"/>
            <a:ext cx="12093068" cy="2201798"/>
          </a:xfrm>
          <a:prstGeom prst="rect">
            <a:avLst/>
          </a:prstGeom>
        </p:spPr>
        <p:txBody>
          <a:bodyPr lIns="0" tIns="0" rIns="0" bIns="0" rtlCol="0" anchor="t">
            <a:spAutoFit/>
          </a:bodyPr>
          <a:lstStyle/>
          <a:p>
            <a:pPr algn="l">
              <a:lnSpc>
                <a:spcPts val="8447"/>
              </a:lnSpc>
            </a:pPr>
            <a:r>
              <a:rPr lang="en-US" sz="8799">
                <a:solidFill>
                  <a:srgbClr val="FFFFFF"/>
                </a:solidFill>
                <a:latin typeface="Anton"/>
                <a:ea typeface="Anton"/>
                <a:cs typeface="Anton"/>
                <a:sym typeface="Anton"/>
              </a:rPr>
              <a:t>OUR BUSINESS MODEL</a:t>
            </a:r>
          </a:p>
          <a:p>
            <a:pPr algn="l">
              <a:lnSpc>
                <a:spcPts val="8447"/>
              </a:lnSpc>
            </a:pPr>
            <a:r>
              <a:rPr lang="en-US" sz="8799">
                <a:solidFill>
                  <a:srgbClr val="FFFFFF"/>
                </a:solidFill>
                <a:latin typeface="Anton"/>
                <a:ea typeface="Anton"/>
                <a:cs typeface="Anton"/>
                <a:sym typeface="Anton"/>
              </a:rPr>
              <a:t>USING DIAMANTE SERVICES</a:t>
            </a:r>
          </a:p>
        </p:txBody>
      </p:sp>
      <p:sp>
        <p:nvSpPr>
          <p:cNvPr id="5" name="Freeform 5"/>
          <p:cNvSpPr/>
          <p:nvPr/>
        </p:nvSpPr>
        <p:spPr>
          <a:xfrm flipH="1">
            <a:off x="6852492" y="-2684390"/>
            <a:ext cx="6269276" cy="5368780"/>
          </a:xfrm>
          <a:custGeom>
            <a:avLst/>
            <a:gdLst/>
            <a:ahLst/>
            <a:cxnLst/>
            <a:rect l="l" t="t" r="r" b="b"/>
            <a:pathLst>
              <a:path w="6269276" h="5368780">
                <a:moveTo>
                  <a:pt x="6269276" y="0"/>
                </a:moveTo>
                <a:lnTo>
                  <a:pt x="0" y="0"/>
                </a:lnTo>
                <a:lnTo>
                  <a:pt x="0" y="5368780"/>
                </a:lnTo>
                <a:lnTo>
                  <a:pt x="6269276" y="5368780"/>
                </a:lnTo>
                <a:lnTo>
                  <a:pt x="6269276" y="0"/>
                </a:lnTo>
                <a:close/>
              </a:path>
            </a:pathLst>
          </a:custGeom>
          <a:blipFill>
            <a:blip r:embed="rId4">
              <a:alphaModFix amt="42000"/>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11592012" y="1625678"/>
            <a:ext cx="6431085" cy="3929884"/>
            <a:chOff x="0" y="0"/>
            <a:chExt cx="8574780" cy="5239845"/>
          </a:xfrm>
        </p:grpSpPr>
        <p:grpSp>
          <p:nvGrpSpPr>
            <p:cNvPr id="7" name="Group 7"/>
            <p:cNvGrpSpPr/>
            <p:nvPr/>
          </p:nvGrpSpPr>
          <p:grpSpPr>
            <a:xfrm>
              <a:off x="0" y="0"/>
              <a:ext cx="8574780" cy="5239845"/>
              <a:chOff x="0" y="0"/>
              <a:chExt cx="1964766" cy="1200622"/>
            </a:xfrm>
          </p:grpSpPr>
          <p:sp>
            <p:nvSpPr>
              <p:cNvPr id="8" name="Freeform 8"/>
              <p:cNvSpPr/>
              <p:nvPr/>
            </p:nvSpPr>
            <p:spPr>
              <a:xfrm>
                <a:off x="0" y="0"/>
                <a:ext cx="1964766" cy="1200622"/>
              </a:xfrm>
              <a:custGeom>
                <a:avLst/>
                <a:gdLst/>
                <a:ahLst/>
                <a:cxnLst/>
                <a:rect l="l" t="t" r="r" b="b"/>
                <a:pathLst>
                  <a:path w="1964766" h="1200622">
                    <a:moveTo>
                      <a:pt x="103779" y="0"/>
                    </a:moveTo>
                    <a:lnTo>
                      <a:pt x="1860987" y="0"/>
                    </a:lnTo>
                    <a:cubicBezTo>
                      <a:pt x="1918302" y="0"/>
                      <a:pt x="1964766" y="46464"/>
                      <a:pt x="1964766" y="103779"/>
                    </a:cubicBezTo>
                    <a:lnTo>
                      <a:pt x="1964766" y="1096843"/>
                    </a:lnTo>
                    <a:cubicBezTo>
                      <a:pt x="1964766" y="1124367"/>
                      <a:pt x="1953832" y="1150763"/>
                      <a:pt x="1934370" y="1170226"/>
                    </a:cubicBezTo>
                    <a:cubicBezTo>
                      <a:pt x="1914907" y="1189688"/>
                      <a:pt x="1888511" y="1200622"/>
                      <a:pt x="1860987" y="1200622"/>
                    </a:cubicBezTo>
                    <a:lnTo>
                      <a:pt x="103779" y="1200622"/>
                    </a:lnTo>
                    <a:cubicBezTo>
                      <a:pt x="46464" y="1200622"/>
                      <a:pt x="0" y="1154159"/>
                      <a:pt x="0" y="1096843"/>
                    </a:cubicBezTo>
                    <a:lnTo>
                      <a:pt x="0" y="103779"/>
                    </a:lnTo>
                    <a:cubicBezTo>
                      <a:pt x="0" y="46464"/>
                      <a:pt x="46464" y="0"/>
                      <a:pt x="103779" y="0"/>
                    </a:cubicBezTo>
                    <a:close/>
                  </a:path>
                </a:pathLst>
              </a:custGeom>
              <a:solidFill>
                <a:srgbClr val="627B9A"/>
              </a:solidFill>
            </p:spPr>
          </p:sp>
          <p:sp>
            <p:nvSpPr>
              <p:cNvPr id="9" name="TextBox 9"/>
              <p:cNvSpPr txBox="1"/>
              <p:nvPr/>
            </p:nvSpPr>
            <p:spPr>
              <a:xfrm>
                <a:off x="0" y="-57150"/>
                <a:ext cx="1964766" cy="1257772"/>
              </a:xfrm>
              <a:prstGeom prst="rect">
                <a:avLst/>
              </a:prstGeom>
            </p:spPr>
            <p:txBody>
              <a:bodyPr lIns="50800" tIns="50800" rIns="50800" bIns="50800" rtlCol="0" anchor="ctr"/>
              <a:lstStyle/>
              <a:p>
                <a:pPr algn="ctr">
                  <a:lnSpc>
                    <a:spcPts val="3541"/>
                  </a:lnSpc>
                </a:pPr>
                <a:endParaRPr/>
              </a:p>
            </p:txBody>
          </p:sp>
        </p:grpSp>
        <p:sp>
          <p:nvSpPr>
            <p:cNvPr id="10" name="TextBox 10"/>
            <p:cNvSpPr txBox="1"/>
            <p:nvPr/>
          </p:nvSpPr>
          <p:spPr>
            <a:xfrm>
              <a:off x="265517" y="440063"/>
              <a:ext cx="8031683" cy="1054396"/>
            </a:xfrm>
            <a:prstGeom prst="rect">
              <a:avLst/>
            </a:prstGeom>
          </p:spPr>
          <p:txBody>
            <a:bodyPr lIns="0" tIns="0" rIns="0" bIns="0" rtlCol="0" anchor="t">
              <a:spAutoFit/>
            </a:bodyPr>
            <a:lstStyle/>
            <a:p>
              <a:pPr algn="ctr">
                <a:lnSpc>
                  <a:spcPts val="6681"/>
                </a:lnSpc>
                <a:spcBef>
                  <a:spcPct val="0"/>
                </a:spcBef>
              </a:pPr>
              <a:r>
                <a:rPr lang="en-US" sz="4772">
                  <a:solidFill>
                    <a:srgbClr val="FFFFFF"/>
                  </a:solidFill>
                  <a:latin typeface="Anton"/>
                  <a:ea typeface="Anton"/>
                  <a:cs typeface="Anton"/>
                  <a:sym typeface="Anton"/>
                </a:rPr>
                <a:t>VENDOR COMISSIONS</a:t>
              </a:r>
            </a:p>
          </p:txBody>
        </p:sp>
        <p:sp>
          <p:nvSpPr>
            <p:cNvPr id="11" name="TextBox 11"/>
            <p:cNvSpPr txBox="1"/>
            <p:nvPr/>
          </p:nvSpPr>
          <p:spPr>
            <a:xfrm>
              <a:off x="836559" y="1536027"/>
              <a:ext cx="6901661" cy="3284812"/>
            </a:xfrm>
            <a:prstGeom prst="rect">
              <a:avLst/>
            </a:prstGeom>
          </p:spPr>
          <p:txBody>
            <a:bodyPr lIns="0" tIns="0" rIns="0" bIns="0" rtlCol="0" anchor="t">
              <a:spAutoFit/>
            </a:bodyPr>
            <a:lstStyle/>
            <a:p>
              <a:pPr algn="ctr">
                <a:lnSpc>
                  <a:spcPts val="4948"/>
                </a:lnSpc>
                <a:spcBef>
                  <a:spcPct val="0"/>
                </a:spcBef>
              </a:pPr>
              <a:r>
                <a:rPr lang="en-US" sz="3534">
                  <a:solidFill>
                    <a:srgbClr val="FFFFFF"/>
                  </a:solidFill>
                  <a:latin typeface="Helvetica World"/>
                  <a:ea typeface="Helvetica World"/>
                  <a:cs typeface="Helvetica World"/>
                  <a:sym typeface="Helvetica World"/>
                </a:rPr>
                <a:t>we charge companies and authorised reseller for listing themselves on our Diamante powered store</a:t>
              </a:r>
            </a:p>
          </p:txBody>
        </p:sp>
      </p:grpSp>
      <p:grpSp>
        <p:nvGrpSpPr>
          <p:cNvPr id="12" name="Group 12"/>
          <p:cNvGrpSpPr/>
          <p:nvPr/>
        </p:nvGrpSpPr>
        <p:grpSpPr>
          <a:xfrm>
            <a:off x="1028700" y="4428057"/>
            <a:ext cx="6870299" cy="5087658"/>
            <a:chOff x="0" y="0"/>
            <a:chExt cx="9160399" cy="6783543"/>
          </a:xfrm>
        </p:grpSpPr>
        <p:grpSp>
          <p:nvGrpSpPr>
            <p:cNvPr id="13" name="Group 13"/>
            <p:cNvGrpSpPr/>
            <p:nvPr/>
          </p:nvGrpSpPr>
          <p:grpSpPr>
            <a:xfrm>
              <a:off x="0" y="0"/>
              <a:ext cx="9160399" cy="6783543"/>
              <a:chOff x="0" y="0"/>
              <a:chExt cx="1809461" cy="1339959"/>
            </a:xfrm>
          </p:grpSpPr>
          <p:sp>
            <p:nvSpPr>
              <p:cNvPr id="14" name="Freeform 14"/>
              <p:cNvSpPr/>
              <p:nvPr/>
            </p:nvSpPr>
            <p:spPr>
              <a:xfrm>
                <a:off x="0" y="0"/>
                <a:ext cx="1809461" cy="1339959"/>
              </a:xfrm>
              <a:custGeom>
                <a:avLst/>
                <a:gdLst/>
                <a:ahLst/>
                <a:cxnLst/>
                <a:rect l="l" t="t" r="r" b="b"/>
                <a:pathLst>
                  <a:path w="1809461" h="1339959">
                    <a:moveTo>
                      <a:pt x="112687" y="0"/>
                    </a:moveTo>
                    <a:lnTo>
                      <a:pt x="1696775" y="0"/>
                    </a:lnTo>
                    <a:cubicBezTo>
                      <a:pt x="1759010" y="0"/>
                      <a:pt x="1809461" y="50452"/>
                      <a:pt x="1809461" y="112687"/>
                    </a:cubicBezTo>
                    <a:lnTo>
                      <a:pt x="1809461" y="1227272"/>
                    </a:lnTo>
                    <a:cubicBezTo>
                      <a:pt x="1809461" y="1257159"/>
                      <a:pt x="1797589" y="1285821"/>
                      <a:pt x="1776456" y="1306954"/>
                    </a:cubicBezTo>
                    <a:cubicBezTo>
                      <a:pt x="1755323" y="1328087"/>
                      <a:pt x="1726661" y="1339959"/>
                      <a:pt x="1696775" y="1339959"/>
                    </a:cubicBezTo>
                    <a:lnTo>
                      <a:pt x="112687" y="1339959"/>
                    </a:lnTo>
                    <a:cubicBezTo>
                      <a:pt x="50452" y="1339959"/>
                      <a:pt x="0" y="1289508"/>
                      <a:pt x="0" y="1227272"/>
                    </a:cubicBezTo>
                    <a:lnTo>
                      <a:pt x="0" y="112687"/>
                    </a:lnTo>
                    <a:cubicBezTo>
                      <a:pt x="0" y="50452"/>
                      <a:pt x="50452" y="0"/>
                      <a:pt x="112687" y="0"/>
                    </a:cubicBezTo>
                    <a:close/>
                  </a:path>
                </a:pathLst>
              </a:custGeom>
              <a:solidFill>
                <a:srgbClr val="627B9A"/>
              </a:solidFill>
            </p:spPr>
          </p:sp>
          <p:sp>
            <p:nvSpPr>
              <p:cNvPr id="15" name="TextBox 15"/>
              <p:cNvSpPr txBox="1"/>
              <p:nvPr/>
            </p:nvSpPr>
            <p:spPr>
              <a:xfrm>
                <a:off x="0" y="-57150"/>
                <a:ext cx="1809461" cy="1397109"/>
              </a:xfrm>
              <a:prstGeom prst="rect">
                <a:avLst/>
              </a:prstGeom>
            </p:spPr>
            <p:txBody>
              <a:bodyPr lIns="50800" tIns="50800" rIns="50800" bIns="50800" rtlCol="0" anchor="ctr"/>
              <a:lstStyle/>
              <a:p>
                <a:pPr algn="ctr">
                  <a:lnSpc>
                    <a:spcPts val="3541"/>
                  </a:lnSpc>
                </a:pPr>
                <a:endParaRPr/>
              </a:p>
            </p:txBody>
          </p:sp>
        </p:grpSp>
        <p:sp>
          <p:nvSpPr>
            <p:cNvPr id="16" name="TextBox 16"/>
            <p:cNvSpPr txBox="1"/>
            <p:nvPr/>
          </p:nvSpPr>
          <p:spPr>
            <a:xfrm>
              <a:off x="20973" y="168252"/>
              <a:ext cx="9139426" cy="1752027"/>
            </a:xfrm>
            <a:prstGeom prst="rect">
              <a:avLst/>
            </a:prstGeom>
          </p:spPr>
          <p:txBody>
            <a:bodyPr lIns="0" tIns="0" rIns="0" bIns="0" rtlCol="0" anchor="t">
              <a:spAutoFit/>
            </a:bodyPr>
            <a:lstStyle/>
            <a:p>
              <a:pPr algn="ctr">
                <a:lnSpc>
                  <a:spcPts val="5684"/>
                </a:lnSpc>
              </a:pPr>
              <a:r>
                <a:rPr lang="en-US" sz="4060">
                  <a:solidFill>
                    <a:srgbClr val="FFFFFF"/>
                  </a:solidFill>
                  <a:latin typeface="Anton"/>
                  <a:ea typeface="Anton"/>
                  <a:cs typeface="Anton"/>
                  <a:sym typeface="Anton"/>
                </a:rPr>
                <a:t>Blockchain-as-a-Service </a:t>
              </a:r>
            </a:p>
            <a:p>
              <a:pPr algn="ctr">
                <a:lnSpc>
                  <a:spcPts val="5124"/>
                </a:lnSpc>
                <a:spcBef>
                  <a:spcPct val="0"/>
                </a:spcBef>
              </a:pPr>
              <a:r>
                <a:rPr lang="en-US" sz="3660">
                  <a:solidFill>
                    <a:srgbClr val="FFFFFF"/>
                  </a:solidFill>
                  <a:latin typeface="Anton"/>
                  <a:ea typeface="Anton"/>
                  <a:cs typeface="Anton"/>
                  <a:sym typeface="Anton"/>
                </a:rPr>
                <a:t>(BaaS) for Pharma Companies</a:t>
              </a:r>
            </a:p>
          </p:txBody>
        </p:sp>
        <p:sp>
          <p:nvSpPr>
            <p:cNvPr id="17" name="TextBox 17"/>
            <p:cNvSpPr txBox="1"/>
            <p:nvPr/>
          </p:nvSpPr>
          <p:spPr>
            <a:xfrm>
              <a:off x="743146" y="2540505"/>
              <a:ext cx="7695079" cy="3807671"/>
            </a:xfrm>
            <a:prstGeom prst="rect">
              <a:avLst/>
            </a:prstGeom>
          </p:spPr>
          <p:txBody>
            <a:bodyPr lIns="0" tIns="0" rIns="0" bIns="0" rtlCol="0" anchor="t">
              <a:spAutoFit/>
            </a:bodyPr>
            <a:lstStyle/>
            <a:p>
              <a:pPr algn="ctr">
                <a:lnSpc>
                  <a:spcPts val="5740"/>
                </a:lnSpc>
                <a:spcBef>
                  <a:spcPct val="0"/>
                </a:spcBef>
              </a:pPr>
              <a:r>
                <a:rPr lang="en-US" sz="4100">
                  <a:solidFill>
                    <a:srgbClr val="FFFFFF"/>
                  </a:solidFill>
                  <a:latin typeface="Helvetica World"/>
                  <a:ea typeface="Helvetica World"/>
                  <a:cs typeface="Helvetica World"/>
                  <a:sym typeface="Helvetica World"/>
                </a:rPr>
                <a:t>Pharma manufacturers pay to register medicine batches on Diamante blockchain</a:t>
              </a:r>
            </a:p>
          </p:txBody>
        </p:sp>
      </p:grpSp>
      <p:grpSp>
        <p:nvGrpSpPr>
          <p:cNvPr id="18" name="Group 18"/>
          <p:cNvGrpSpPr/>
          <p:nvPr/>
        </p:nvGrpSpPr>
        <p:grpSpPr>
          <a:xfrm>
            <a:off x="9144000" y="6003826"/>
            <a:ext cx="7652694" cy="3511889"/>
            <a:chOff x="0" y="0"/>
            <a:chExt cx="10203593" cy="4682519"/>
          </a:xfrm>
        </p:grpSpPr>
        <p:grpSp>
          <p:nvGrpSpPr>
            <p:cNvPr id="19" name="Group 19"/>
            <p:cNvGrpSpPr/>
            <p:nvPr/>
          </p:nvGrpSpPr>
          <p:grpSpPr>
            <a:xfrm>
              <a:off x="0" y="0"/>
              <a:ext cx="10117048" cy="4682519"/>
              <a:chOff x="0" y="0"/>
              <a:chExt cx="2448132" cy="1133080"/>
            </a:xfrm>
          </p:grpSpPr>
          <p:sp>
            <p:nvSpPr>
              <p:cNvPr id="20" name="Freeform 20"/>
              <p:cNvSpPr/>
              <p:nvPr/>
            </p:nvSpPr>
            <p:spPr>
              <a:xfrm>
                <a:off x="0" y="0"/>
                <a:ext cx="2448132" cy="1133080"/>
              </a:xfrm>
              <a:custGeom>
                <a:avLst/>
                <a:gdLst/>
                <a:ahLst/>
                <a:cxnLst/>
                <a:rect l="l" t="t" r="r" b="b"/>
                <a:pathLst>
                  <a:path w="2448132" h="1133080">
                    <a:moveTo>
                      <a:pt x="102031" y="0"/>
                    </a:moveTo>
                    <a:lnTo>
                      <a:pt x="2346101" y="0"/>
                    </a:lnTo>
                    <a:cubicBezTo>
                      <a:pt x="2373161" y="0"/>
                      <a:pt x="2399113" y="10750"/>
                      <a:pt x="2418248" y="29884"/>
                    </a:cubicBezTo>
                    <a:cubicBezTo>
                      <a:pt x="2437382" y="49019"/>
                      <a:pt x="2448132" y="74971"/>
                      <a:pt x="2448132" y="102031"/>
                    </a:cubicBezTo>
                    <a:lnTo>
                      <a:pt x="2448132" y="1031049"/>
                    </a:lnTo>
                    <a:cubicBezTo>
                      <a:pt x="2448132" y="1087399"/>
                      <a:pt x="2402451" y="1133080"/>
                      <a:pt x="2346101" y="1133080"/>
                    </a:cubicBezTo>
                    <a:lnTo>
                      <a:pt x="102031" y="1133080"/>
                    </a:lnTo>
                    <a:cubicBezTo>
                      <a:pt x="45681" y="1133080"/>
                      <a:pt x="0" y="1087399"/>
                      <a:pt x="0" y="1031049"/>
                    </a:cubicBezTo>
                    <a:lnTo>
                      <a:pt x="0" y="102031"/>
                    </a:lnTo>
                    <a:cubicBezTo>
                      <a:pt x="0" y="45681"/>
                      <a:pt x="45681" y="0"/>
                      <a:pt x="102031" y="0"/>
                    </a:cubicBezTo>
                    <a:close/>
                  </a:path>
                </a:pathLst>
              </a:custGeom>
              <a:solidFill>
                <a:srgbClr val="627B9A"/>
              </a:solidFill>
            </p:spPr>
          </p:sp>
          <p:sp>
            <p:nvSpPr>
              <p:cNvPr id="21" name="TextBox 21"/>
              <p:cNvSpPr txBox="1"/>
              <p:nvPr/>
            </p:nvSpPr>
            <p:spPr>
              <a:xfrm>
                <a:off x="0" y="-57150"/>
                <a:ext cx="2448132" cy="1190230"/>
              </a:xfrm>
              <a:prstGeom prst="rect">
                <a:avLst/>
              </a:prstGeom>
            </p:spPr>
            <p:txBody>
              <a:bodyPr lIns="41468" tIns="41468" rIns="41468" bIns="41468" rtlCol="0" anchor="ctr"/>
              <a:lstStyle/>
              <a:p>
                <a:pPr algn="ctr">
                  <a:lnSpc>
                    <a:spcPts val="3541"/>
                  </a:lnSpc>
                </a:pPr>
                <a:endParaRPr/>
              </a:p>
            </p:txBody>
          </p:sp>
        </p:grpSp>
        <p:sp>
          <p:nvSpPr>
            <p:cNvPr id="22" name="TextBox 22"/>
            <p:cNvSpPr txBox="1"/>
            <p:nvPr/>
          </p:nvSpPr>
          <p:spPr>
            <a:xfrm>
              <a:off x="504519" y="555527"/>
              <a:ext cx="9699074" cy="765386"/>
            </a:xfrm>
            <a:prstGeom prst="rect">
              <a:avLst/>
            </a:prstGeom>
          </p:spPr>
          <p:txBody>
            <a:bodyPr lIns="0" tIns="0" rIns="0" bIns="0" rtlCol="0" anchor="t">
              <a:spAutoFit/>
            </a:bodyPr>
            <a:lstStyle/>
            <a:p>
              <a:pPr algn="ctr">
                <a:lnSpc>
                  <a:spcPts val="4479"/>
                </a:lnSpc>
                <a:spcBef>
                  <a:spcPct val="0"/>
                </a:spcBef>
              </a:pPr>
              <a:r>
                <a:rPr lang="en-US" sz="3999">
                  <a:solidFill>
                    <a:srgbClr val="FFFFFF"/>
                  </a:solidFill>
                  <a:latin typeface="Anton"/>
                  <a:ea typeface="Anton"/>
                  <a:cs typeface="Anton"/>
                  <a:sym typeface="Anton"/>
                </a:rPr>
                <a:t>Global API for E-commerce</a:t>
              </a:r>
            </a:p>
          </p:txBody>
        </p:sp>
        <p:sp>
          <p:nvSpPr>
            <p:cNvPr id="23" name="TextBox 23"/>
            <p:cNvSpPr txBox="1"/>
            <p:nvPr/>
          </p:nvSpPr>
          <p:spPr>
            <a:xfrm>
              <a:off x="1509984" y="1571219"/>
              <a:ext cx="7688143" cy="2816149"/>
            </a:xfrm>
            <a:prstGeom prst="rect">
              <a:avLst/>
            </a:prstGeom>
          </p:spPr>
          <p:txBody>
            <a:bodyPr lIns="0" tIns="0" rIns="0" bIns="0" rtlCol="0" anchor="t">
              <a:spAutoFit/>
            </a:bodyPr>
            <a:lstStyle/>
            <a:p>
              <a:pPr algn="ctr">
                <a:lnSpc>
                  <a:spcPts val="4193"/>
                </a:lnSpc>
                <a:spcBef>
                  <a:spcPct val="0"/>
                </a:spcBef>
              </a:pPr>
              <a:r>
                <a:rPr lang="en-US" sz="3744">
                  <a:solidFill>
                    <a:srgbClr val="FFFFFF"/>
                  </a:solidFill>
                  <a:latin typeface="Helvetica World"/>
                  <a:ea typeface="Helvetica World"/>
                  <a:cs typeface="Helvetica World"/>
                  <a:sym typeface="Helvetica World"/>
                </a:rPr>
                <a:t>Offer an Diamante based API for online pharmacies, delivery apps, and telehealth companies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Freeform 2"/>
          <p:cNvSpPr/>
          <p:nvPr/>
        </p:nvSpPr>
        <p:spPr>
          <a:xfrm>
            <a:off x="14235339" y="-1524379"/>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77059" y="1266825"/>
            <a:ext cx="11133812" cy="1323596"/>
          </a:xfrm>
          <a:prstGeom prst="rect">
            <a:avLst/>
          </a:prstGeom>
        </p:spPr>
        <p:txBody>
          <a:bodyPr lIns="0" tIns="0" rIns="0" bIns="0" rtlCol="0" anchor="t">
            <a:spAutoFit/>
          </a:bodyPr>
          <a:lstStyle/>
          <a:p>
            <a:pPr algn="l">
              <a:lnSpc>
                <a:spcPts val="9888"/>
              </a:lnSpc>
            </a:pPr>
            <a:r>
              <a:rPr lang="en-US" sz="10300">
                <a:solidFill>
                  <a:srgbClr val="FFFFFF"/>
                </a:solidFill>
                <a:latin typeface="Anton"/>
                <a:ea typeface="Anton"/>
                <a:cs typeface="Anton"/>
                <a:sym typeface="Anton"/>
              </a:rPr>
              <a:t>MARKET STRATEGY</a:t>
            </a:r>
          </a:p>
        </p:txBody>
      </p:sp>
      <p:sp>
        <p:nvSpPr>
          <p:cNvPr id="4" name="TextBox 4"/>
          <p:cNvSpPr txBox="1"/>
          <p:nvPr/>
        </p:nvSpPr>
        <p:spPr>
          <a:xfrm>
            <a:off x="3411663" y="6477273"/>
            <a:ext cx="11204168" cy="881267"/>
          </a:xfrm>
          <a:prstGeom prst="rect">
            <a:avLst/>
          </a:prstGeom>
        </p:spPr>
        <p:txBody>
          <a:bodyPr wrap="square" lIns="0" tIns="0" rIns="0" bIns="0" rtlCol="0" anchor="t">
            <a:spAutoFit/>
          </a:bodyPr>
          <a:lstStyle/>
          <a:p>
            <a:pPr algn="ctr">
              <a:lnSpc>
                <a:spcPts val="7559"/>
              </a:lnSpc>
              <a:spcBef>
                <a:spcPct val="0"/>
              </a:spcBef>
            </a:pPr>
            <a:r>
              <a:rPr lang="en-US" sz="5399" b="1" u="sng" dirty="0">
                <a:solidFill>
                  <a:srgbClr val="FFD700"/>
                </a:solidFill>
                <a:latin typeface="Helvetica World Bold"/>
                <a:ea typeface="Helvetica World Bold"/>
                <a:cs typeface="Helvetica World Bold"/>
                <a:sym typeface="Helvetica World Bold"/>
              </a:rPr>
              <a:t>LEGAL REGULATIONS</a:t>
            </a:r>
          </a:p>
        </p:txBody>
      </p:sp>
      <p:sp>
        <p:nvSpPr>
          <p:cNvPr id="5" name="TextBox 5"/>
          <p:cNvSpPr txBox="1"/>
          <p:nvPr/>
        </p:nvSpPr>
        <p:spPr>
          <a:xfrm>
            <a:off x="852098" y="7696580"/>
            <a:ext cx="17129047" cy="857771"/>
          </a:xfrm>
          <a:prstGeom prst="rect">
            <a:avLst/>
          </a:prstGeom>
        </p:spPr>
        <p:txBody>
          <a:bodyPr lIns="0" tIns="0" rIns="0" bIns="0" rtlCol="0" anchor="t">
            <a:spAutoFit/>
          </a:bodyPr>
          <a:lstStyle/>
          <a:p>
            <a:pPr algn="ctr">
              <a:lnSpc>
                <a:spcPts val="6481"/>
              </a:lnSpc>
              <a:spcBef>
                <a:spcPct val="0"/>
              </a:spcBef>
            </a:pPr>
            <a:r>
              <a:rPr lang="en-US" sz="4629" b="1" dirty="0">
                <a:solidFill>
                  <a:srgbClr val="FFFFF6"/>
                </a:solidFill>
                <a:latin typeface="Helvetica World Bold"/>
                <a:ea typeface="Helvetica World Bold"/>
                <a:cs typeface="Helvetica World Bold"/>
                <a:sym typeface="Helvetica World Bold"/>
              </a:rPr>
              <a:t>“</a:t>
            </a:r>
            <a:r>
              <a:rPr lang="en-US" sz="4629" b="1" dirty="0" err="1">
                <a:solidFill>
                  <a:srgbClr val="FFFFF6"/>
                </a:solidFill>
                <a:latin typeface="Helvetica World Bold"/>
                <a:ea typeface="Helvetica World Bold"/>
                <a:cs typeface="Helvetica World Bold"/>
                <a:sym typeface="Helvetica World Bold"/>
              </a:rPr>
              <a:t>MediBond</a:t>
            </a:r>
            <a:r>
              <a:rPr lang="en-US" sz="4629" b="1" dirty="0">
                <a:solidFill>
                  <a:srgbClr val="FFFFF6"/>
                </a:solidFill>
                <a:latin typeface="Helvetica World Bold"/>
                <a:ea typeface="Helvetica World Bold"/>
                <a:cs typeface="Helvetica World Bold"/>
                <a:sym typeface="Helvetica World Bold"/>
              </a:rPr>
              <a:t> is a government-approved Compliance”</a:t>
            </a:r>
          </a:p>
        </p:txBody>
      </p:sp>
      <p:sp>
        <p:nvSpPr>
          <p:cNvPr id="6" name="Freeform 6"/>
          <p:cNvSpPr/>
          <p:nvPr/>
        </p:nvSpPr>
        <p:spPr>
          <a:xfrm>
            <a:off x="852098" y="8645197"/>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431850" y="3189130"/>
            <a:ext cx="15827450" cy="2029869"/>
            <a:chOff x="0" y="0"/>
            <a:chExt cx="21103266" cy="2706492"/>
          </a:xfrm>
        </p:grpSpPr>
        <p:sp>
          <p:nvSpPr>
            <p:cNvPr id="8" name="TextBox 8"/>
            <p:cNvSpPr txBox="1"/>
            <p:nvPr/>
          </p:nvSpPr>
          <p:spPr>
            <a:xfrm>
              <a:off x="1984585" y="-133350"/>
              <a:ext cx="16249222" cy="1561527"/>
            </a:xfrm>
            <a:prstGeom prst="rect">
              <a:avLst/>
            </a:prstGeom>
          </p:spPr>
          <p:txBody>
            <a:bodyPr lIns="0" tIns="0" rIns="0" bIns="0" rtlCol="0" anchor="t">
              <a:spAutoFit/>
            </a:bodyPr>
            <a:lstStyle/>
            <a:p>
              <a:pPr algn="ctr">
                <a:lnSpc>
                  <a:spcPts val="9001"/>
                </a:lnSpc>
                <a:spcBef>
                  <a:spcPct val="0"/>
                </a:spcBef>
              </a:pPr>
              <a:r>
                <a:rPr lang="en-US" sz="6429" b="1">
                  <a:solidFill>
                    <a:srgbClr val="FFFFFF"/>
                  </a:solidFill>
                  <a:latin typeface="Helvetica World Bold"/>
                  <a:ea typeface="Helvetica World Bold"/>
                  <a:cs typeface="Helvetica World Bold"/>
                  <a:sym typeface="Helvetica World Bold"/>
                </a:rPr>
                <a:t>We become the Approval !</a:t>
              </a:r>
            </a:p>
          </p:txBody>
        </p:sp>
        <p:sp>
          <p:nvSpPr>
            <p:cNvPr id="9" name="TextBox 9"/>
            <p:cNvSpPr txBox="1"/>
            <p:nvPr/>
          </p:nvSpPr>
          <p:spPr>
            <a:xfrm>
              <a:off x="0" y="1723452"/>
              <a:ext cx="21103266" cy="983040"/>
            </a:xfrm>
            <a:prstGeom prst="rect">
              <a:avLst/>
            </a:prstGeom>
          </p:spPr>
          <p:txBody>
            <a:bodyPr lIns="0" tIns="0" rIns="0" bIns="0" rtlCol="0" anchor="t">
              <a:spAutoFit/>
            </a:bodyPr>
            <a:lstStyle/>
            <a:p>
              <a:pPr algn="ctr">
                <a:lnSpc>
                  <a:spcPts val="5641"/>
                </a:lnSpc>
                <a:spcBef>
                  <a:spcPct val="0"/>
                </a:spcBef>
              </a:pPr>
              <a:r>
                <a:rPr lang="en-US" sz="4029" b="1">
                  <a:solidFill>
                    <a:srgbClr val="FFFFFF"/>
                  </a:solidFill>
                  <a:latin typeface="Helvetica World Bold"/>
                  <a:ea typeface="Helvetica World Bold"/>
                  <a:cs typeface="Helvetica World Bold"/>
                  <a:sym typeface="Helvetica World Bold"/>
                </a:rPr>
                <a:t>"Market access begins with us — and comes at a price."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Freeform 2"/>
          <p:cNvSpPr/>
          <p:nvPr/>
        </p:nvSpPr>
        <p:spPr>
          <a:xfrm>
            <a:off x="5074093" y="-1942477"/>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47376" y="1629588"/>
            <a:ext cx="11133812" cy="1323596"/>
          </a:xfrm>
          <a:prstGeom prst="rect">
            <a:avLst/>
          </a:prstGeom>
        </p:spPr>
        <p:txBody>
          <a:bodyPr lIns="0" tIns="0" rIns="0" bIns="0" rtlCol="0" anchor="t">
            <a:spAutoFit/>
          </a:bodyPr>
          <a:lstStyle/>
          <a:p>
            <a:pPr algn="l">
              <a:lnSpc>
                <a:spcPts val="9888"/>
              </a:lnSpc>
            </a:pPr>
            <a:r>
              <a:rPr lang="en-US" sz="10300">
                <a:solidFill>
                  <a:srgbClr val="FFFFFF"/>
                </a:solidFill>
                <a:latin typeface="Anton"/>
                <a:ea typeface="Anton"/>
                <a:cs typeface="Anton"/>
                <a:sym typeface="Anton"/>
              </a:rPr>
              <a:t>FUTURE PLANS</a:t>
            </a:r>
          </a:p>
        </p:txBody>
      </p:sp>
      <p:sp>
        <p:nvSpPr>
          <p:cNvPr id="4" name="TextBox 4"/>
          <p:cNvSpPr txBox="1"/>
          <p:nvPr/>
        </p:nvSpPr>
        <p:spPr>
          <a:xfrm>
            <a:off x="514350" y="3746924"/>
            <a:ext cx="17259300" cy="1846560"/>
          </a:xfrm>
          <a:prstGeom prst="rect">
            <a:avLst/>
          </a:prstGeom>
        </p:spPr>
        <p:txBody>
          <a:bodyPr lIns="0" tIns="0" rIns="0" bIns="0" rtlCol="0" anchor="t">
            <a:spAutoFit/>
          </a:bodyPr>
          <a:lstStyle/>
          <a:p>
            <a:pPr algn="l">
              <a:lnSpc>
                <a:spcPts val="7421"/>
              </a:lnSpc>
            </a:pPr>
            <a:r>
              <a:rPr lang="en-US" sz="5300" dirty="0">
                <a:solidFill>
                  <a:srgbClr val="FFFFFF"/>
                </a:solidFill>
                <a:latin typeface="Helvetica World"/>
                <a:ea typeface="Helvetica World"/>
                <a:cs typeface="Helvetica World"/>
                <a:sym typeface="Helvetica World"/>
              </a:rPr>
              <a:t>“Secured verified Organ Matching — Subscription-Based Access”</a:t>
            </a:r>
          </a:p>
        </p:txBody>
      </p:sp>
      <p:sp>
        <p:nvSpPr>
          <p:cNvPr id="5" name="TextBox 5"/>
          <p:cNvSpPr txBox="1"/>
          <p:nvPr/>
        </p:nvSpPr>
        <p:spPr>
          <a:xfrm>
            <a:off x="0" y="6525249"/>
            <a:ext cx="17259300" cy="938417"/>
          </a:xfrm>
          <a:prstGeom prst="rect">
            <a:avLst/>
          </a:prstGeom>
        </p:spPr>
        <p:txBody>
          <a:bodyPr lIns="0" tIns="0" rIns="0" bIns="0" rtlCol="0" anchor="t">
            <a:spAutoFit/>
          </a:bodyPr>
          <a:lstStyle/>
          <a:p>
            <a:pPr algn="ctr">
              <a:lnSpc>
                <a:spcPts val="7601"/>
              </a:lnSpc>
              <a:spcBef>
                <a:spcPct val="0"/>
              </a:spcBef>
            </a:pPr>
            <a:r>
              <a:rPr lang="en-US" sz="5429">
                <a:solidFill>
                  <a:srgbClr val="FFFFFF"/>
                </a:solidFill>
                <a:latin typeface="Helvetica World"/>
                <a:ea typeface="Helvetica World"/>
                <a:cs typeface="Helvetica World"/>
                <a:sym typeface="Helvetica World"/>
              </a:rPr>
              <a:t>“AI-Powered Risk Prediction for Counterfeit Hotspots”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Freeform 2"/>
          <p:cNvSpPr/>
          <p:nvPr/>
        </p:nvSpPr>
        <p:spPr>
          <a:xfrm>
            <a:off x="16501745" y="1140021"/>
            <a:ext cx="757555" cy="189389"/>
          </a:xfrm>
          <a:custGeom>
            <a:avLst/>
            <a:gdLst/>
            <a:ahLst/>
            <a:cxnLst/>
            <a:rect l="l" t="t" r="r" b="b"/>
            <a:pathLst>
              <a:path w="757555" h="189389">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028700" y="1140021"/>
            <a:ext cx="757555" cy="189389"/>
          </a:xfrm>
          <a:custGeom>
            <a:avLst/>
            <a:gdLst/>
            <a:ahLst/>
            <a:cxnLst/>
            <a:rect l="l" t="t" r="r" b="b"/>
            <a:pathLst>
              <a:path w="757555" h="189389">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278164" y="338609"/>
            <a:ext cx="14348429" cy="1323596"/>
          </a:xfrm>
          <a:prstGeom prst="rect">
            <a:avLst/>
          </a:prstGeom>
        </p:spPr>
        <p:txBody>
          <a:bodyPr lIns="0" tIns="0" rIns="0" bIns="0" rtlCol="0" anchor="t">
            <a:spAutoFit/>
          </a:bodyPr>
          <a:lstStyle/>
          <a:p>
            <a:pPr algn="l">
              <a:lnSpc>
                <a:spcPts val="9888"/>
              </a:lnSpc>
            </a:pPr>
            <a:r>
              <a:rPr lang="en-US" sz="10300">
                <a:solidFill>
                  <a:srgbClr val="FFFFFF"/>
                </a:solidFill>
                <a:latin typeface="Anton"/>
                <a:ea typeface="Anton"/>
                <a:cs typeface="Anton"/>
                <a:sym typeface="Anton"/>
              </a:rPr>
              <a:t>SOLIDITY CODE FOR MEDIBOND</a:t>
            </a:r>
          </a:p>
        </p:txBody>
      </p:sp>
      <p:sp>
        <p:nvSpPr>
          <p:cNvPr id="5" name="Freeform 5"/>
          <p:cNvSpPr/>
          <p:nvPr/>
        </p:nvSpPr>
        <p:spPr>
          <a:xfrm>
            <a:off x="7143782" y="-2057400"/>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5">
              <a:alphaModFix amt="42000"/>
              <a:extLst>
                <a:ext uri="{96DAC541-7B7A-43D3-8B79-37D633B846F1}">
                  <asvg:svgBlip xmlns:asvg="http://schemas.microsoft.com/office/drawing/2016/SVG/main" r:embed="rId6"/>
                </a:ext>
              </a:extLst>
            </a:blip>
            <a:stretch>
              <a:fillRect/>
            </a:stretch>
          </a:blipFill>
        </p:spPr>
      </p:sp>
      <p:sp>
        <p:nvSpPr>
          <p:cNvPr id="6" name="Freeform 6"/>
          <p:cNvSpPr/>
          <p:nvPr/>
        </p:nvSpPr>
        <p:spPr>
          <a:xfrm flipH="1" flipV="1">
            <a:off x="10987051" y="-2974779"/>
            <a:ext cx="4804968" cy="4114800"/>
          </a:xfrm>
          <a:custGeom>
            <a:avLst/>
            <a:gdLst/>
            <a:ahLst/>
            <a:cxnLst/>
            <a:rect l="l" t="t" r="r" b="b"/>
            <a:pathLst>
              <a:path w="4804968" h="4114800">
                <a:moveTo>
                  <a:pt x="4804969" y="4114800"/>
                </a:moveTo>
                <a:lnTo>
                  <a:pt x="0" y="4114800"/>
                </a:lnTo>
                <a:lnTo>
                  <a:pt x="0" y="0"/>
                </a:lnTo>
                <a:lnTo>
                  <a:pt x="4804969" y="0"/>
                </a:lnTo>
                <a:lnTo>
                  <a:pt x="4804969" y="4114800"/>
                </a:lnTo>
                <a:close/>
              </a:path>
            </a:pathLst>
          </a:custGeom>
          <a:blipFill>
            <a:blip r:embed="rId5">
              <a:alphaModFix amt="42000"/>
              <a:extLst>
                <a:ext uri="{96DAC541-7B7A-43D3-8B79-37D633B846F1}">
                  <asvg:svgBlip xmlns:asvg="http://schemas.microsoft.com/office/drawing/2016/SVG/main" r:embed="rId6"/>
                </a:ext>
              </a:extLst>
            </a:blip>
            <a:stretch>
              <a:fillRect/>
            </a:stretch>
          </a:blipFill>
        </p:spPr>
      </p:sp>
      <p:sp>
        <p:nvSpPr>
          <p:cNvPr id="7" name="Freeform 7"/>
          <p:cNvSpPr/>
          <p:nvPr/>
        </p:nvSpPr>
        <p:spPr>
          <a:xfrm>
            <a:off x="278164" y="1662204"/>
            <a:ext cx="8123705" cy="8477440"/>
          </a:xfrm>
          <a:custGeom>
            <a:avLst/>
            <a:gdLst/>
            <a:ahLst/>
            <a:cxnLst/>
            <a:rect l="l" t="t" r="r" b="b"/>
            <a:pathLst>
              <a:path w="8123705" h="8477440">
                <a:moveTo>
                  <a:pt x="0" y="0"/>
                </a:moveTo>
                <a:lnTo>
                  <a:pt x="8123705" y="0"/>
                </a:lnTo>
                <a:lnTo>
                  <a:pt x="8123705" y="8477440"/>
                </a:lnTo>
                <a:lnTo>
                  <a:pt x="0" y="8477440"/>
                </a:lnTo>
                <a:lnTo>
                  <a:pt x="0" y="0"/>
                </a:lnTo>
                <a:close/>
              </a:path>
            </a:pathLst>
          </a:custGeom>
          <a:blipFill>
            <a:blip r:embed="rId7"/>
            <a:stretch>
              <a:fillRect/>
            </a:stretch>
          </a:blipFill>
        </p:spPr>
      </p:sp>
      <p:sp>
        <p:nvSpPr>
          <p:cNvPr id="8" name="Freeform 8"/>
          <p:cNvSpPr/>
          <p:nvPr/>
        </p:nvSpPr>
        <p:spPr>
          <a:xfrm>
            <a:off x="8771256" y="1662204"/>
            <a:ext cx="8344791" cy="8477440"/>
          </a:xfrm>
          <a:custGeom>
            <a:avLst/>
            <a:gdLst/>
            <a:ahLst/>
            <a:cxnLst/>
            <a:rect l="l" t="t" r="r" b="b"/>
            <a:pathLst>
              <a:path w="8344791" h="8477440">
                <a:moveTo>
                  <a:pt x="0" y="0"/>
                </a:moveTo>
                <a:lnTo>
                  <a:pt x="8344791" y="0"/>
                </a:lnTo>
                <a:lnTo>
                  <a:pt x="8344791" y="8477440"/>
                </a:lnTo>
                <a:lnTo>
                  <a:pt x="0" y="8477440"/>
                </a:lnTo>
                <a:lnTo>
                  <a:pt x="0" y="0"/>
                </a:lnTo>
                <a:close/>
              </a:path>
            </a:pathLst>
          </a:custGeom>
          <a:blipFill>
            <a:blip r:embed="rId8"/>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3D73"/>
        </a:solidFill>
        <a:effectLst/>
      </p:bgPr>
    </p:bg>
    <p:spTree>
      <p:nvGrpSpPr>
        <p:cNvPr id="1" name=""/>
        <p:cNvGrpSpPr/>
        <p:nvPr/>
      </p:nvGrpSpPr>
      <p:grpSpPr>
        <a:xfrm>
          <a:off x="0" y="0"/>
          <a:ext cx="0" cy="0"/>
          <a:chOff x="0" y="0"/>
          <a:chExt cx="0" cy="0"/>
        </a:xfrm>
      </p:grpSpPr>
      <p:sp>
        <p:nvSpPr>
          <p:cNvPr id="2" name="TextBox 2"/>
          <p:cNvSpPr txBox="1"/>
          <p:nvPr/>
        </p:nvSpPr>
        <p:spPr>
          <a:xfrm>
            <a:off x="4614125" y="4251694"/>
            <a:ext cx="9059749" cy="2174138"/>
          </a:xfrm>
          <a:prstGeom prst="rect">
            <a:avLst/>
          </a:prstGeom>
        </p:spPr>
        <p:txBody>
          <a:bodyPr lIns="0" tIns="0" rIns="0" bIns="0" rtlCol="0" anchor="t">
            <a:spAutoFit/>
          </a:bodyPr>
          <a:lstStyle/>
          <a:p>
            <a:pPr algn="l">
              <a:lnSpc>
                <a:spcPts val="16172"/>
              </a:lnSpc>
            </a:pPr>
            <a:r>
              <a:rPr lang="en-US" sz="16845">
                <a:solidFill>
                  <a:srgbClr val="FFFFFF"/>
                </a:solidFill>
                <a:latin typeface="Anton"/>
                <a:ea typeface="Anton"/>
                <a:cs typeface="Anton"/>
                <a:sym typeface="Anton"/>
              </a:rPr>
              <a:t>THANK YOU</a:t>
            </a:r>
          </a:p>
        </p:txBody>
      </p:sp>
      <p:sp>
        <p:nvSpPr>
          <p:cNvPr id="3" name="Freeform 3"/>
          <p:cNvSpPr/>
          <p:nvPr/>
        </p:nvSpPr>
        <p:spPr>
          <a:xfrm>
            <a:off x="3265032" y="-2540387"/>
            <a:ext cx="4804968" cy="4114800"/>
          </a:xfrm>
          <a:custGeom>
            <a:avLst/>
            <a:gdLst/>
            <a:ahLst/>
            <a:cxnLst/>
            <a:rect l="l" t="t" r="r" b="b"/>
            <a:pathLst>
              <a:path w="4804968" h="4114800">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8075466" y="8479911"/>
            <a:ext cx="4804968" cy="4114800"/>
          </a:xfrm>
          <a:custGeom>
            <a:avLst/>
            <a:gdLst/>
            <a:ahLst/>
            <a:cxnLst/>
            <a:rect l="l" t="t" r="r" b="b"/>
            <a:pathLst>
              <a:path w="4804968" h="4114800">
                <a:moveTo>
                  <a:pt x="0" y="0"/>
                </a:moveTo>
                <a:lnTo>
                  <a:pt x="4804969" y="0"/>
                </a:lnTo>
                <a:lnTo>
                  <a:pt x="4804969"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329</Words>
  <Application>Microsoft Office PowerPoint</Application>
  <PresentationFormat>Custom</PresentationFormat>
  <Paragraphs>64</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Helvetica World Bold</vt:lpstr>
      <vt:lpstr>Helvetica World</vt:lpstr>
      <vt:lpstr>Arial</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Simple Group Project Presentation</dc:title>
  <cp:lastModifiedBy>Mohammed Amaan Khan</cp:lastModifiedBy>
  <cp:revision>4</cp:revision>
  <dcterms:created xsi:type="dcterms:W3CDTF">2006-08-16T00:00:00Z</dcterms:created>
  <dcterms:modified xsi:type="dcterms:W3CDTF">2025-05-01T08:45:08Z</dcterms:modified>
  <dc:identifier>DAGmIwwNF0c</dc:identifier>
</cp:coreProperties>
</file>