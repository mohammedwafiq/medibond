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nton" charset="1" panose="00000500000000000000"/>
      <p:regular r:id="rId17"/>
    </p:embeddedFont>
    <p:embeddedFont>
      <p:font typeface="Helvetica World Bold" charset="1" panose="020B0800040000020004"/>
      <p:regular r:id="rId18"/>
    </p:embeddedFont>
    <p:embeddedFont>
      <p:font typeface="Helvetica World" charset="1" panose="020B05000400000200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notesSlides/notesSlide2.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We meet 5 UN Sustainable Development Goals</a:t>
            </a:r>
          </a:p>
          <a:p>
            <a:r>
              <a:rPr lang="en-US"/>
              <a:t/>
            </a:r>
          </a:p>
          <a:p>
            <a:r>
              <a:rPr lang="en-US"/>
              <a:t>Protects patients from harmful fake medicines.</a:t>
            </a:r>
          </a:p>
          <a:p>
            <a:r>
              <a:rPr lang="en-US"/>
              <a:t/>
            </a:r>
          </a:p>
          <a:p>
            <a:r>
              <a:rPr lang="en-US"/>
              <a:t>Uses blockchain tech to modernize medicine tracking.</a:t>
            </a:r>
          </a:p>
          <a:p>
            <a:r>
              <a:rPr lang="en-US"/>
              <a:t/>
            </a:r>
          </a:p>
          <a:p>
            <a:r>
              <a:rPr lang="en-US"/>
              <a:t>Ensures safe, traceable use of genuine medicines.</a:t>
            </a:r>
          </a:p>
          <a:p>
            <a:r>
              <a:rPr lang="en-US"/>
              <a:t/>
            </a:r>
          </a:p>
          <a:p>
            <a:r>
              <a:rPr lang="en-US"/>
              <a:t>Creates transparency and accountability in drug supply</a:t>
            </a:r>
          </a:p>
          <a:p>
            <a:r>
              <a:rPr lang="en-US"/>
              <a:t/>
            </a:r>
          </a:p>
          <a:p>
            <a:r>
              <a:rPr lang="en-US"/>
              <a:t>Connects stakeholders in a trusted health ecosystem..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Solidity code on the left defines a Medicine structure to store all relevant details for each medicine. It includes functionality to add new records while ensuring only the admin can add data and that duplicates are prevented. The code on the right enables anyone to view medicine details.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jpeg" Type="http://schemas.openxmlformats.org/officeDocument/2006/relationships/image"/><Relationship Id="rId8" Target="../media/image1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14" Target="../media/image25.pn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26.jpeg" Type="http://schemas.openxmlformats.org/officeDocument/2006/relationships/image"/><Relationship Id="rId6" Target="../media/image27.jpe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1.png" Type="http://schemas.openxmlformats.org/officeDocument/2006/relationships/image"/><Relationship Id="rId5" Target="../media/image32.jpeg" Type="http://schemas.openxmlformats.org/officeDocument/2006/relationships/image"/><Relationship Id="rId6" Target="../media/image3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34.png" Type="http://schemas.openxmlformats.org/officeDocument/2006/relationships/image"/><Relationship Id="rId8" Target="../media/image3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3533C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528000">
            <a:off x="11944832" y="7418861"/>
            <a:ext cx="7048104" cy="634329"/>
          </a:xfrm>
          <a:custGeom>
            <a:avLst/>
            <a:gdLst/>
            <a:ahLst/>
            <a:cxnLst/>
            <a:rect r="r" b="b" t="t" l="l"/>
            <a:pathLst>
              <a:path h="634329" w="7048104">
                <a:moveTo>
                  <a:pt x="0" y="0"/>
                </a:moveTo>
                <a:lnTo>
                  <a:pt x="7048103" y="0"/>
                </a:lnTo>
                <a:lnTo>
                  <a:pt x="7048103" y="634329"/>
                </a:lnTo>
                <a:lnTo>
                  <a:pt x="0" y="634329"/>
                </a:lnTo>
                <a:lnTo>
                  <a:pt x="0" y="0"/>
                </a:lnTo>
                <a:close/>
              </a:path>
            </a:pathLst>
          </a:custGeom>
          <a:blipFill>
            <a:blip r:embed="rId2"/>
            <a:stretch>
              <a:fillRect l="0" t="0" r="0" b="0"/>
            </a:stretch>
          </a:blipFill>
        </p:spPr>
      </p:sp>
      <p:grpSp>
        <p:nvGrpSpPr>
          <p:cNvPr name="Group 3" id="3"/>
          <p:cNvGrpSpPr/>
          <p:nvPr/>
        </p:nvGrpSpPr>
        <p:grpSpPr>
          <a:xfrm rot="-1023918">
            <a:off x="11873293" y="-79325"/>
            <a:ext cx="6848750" cy="5351169"/>
            <a:chOff x="0" y="0"/>
            <a:chExt cx="9131667" cy="7134892"/>
          </a:xfrm>
        </p:grpSpPr>
        <p:pic>
          <p:nvPicPr>
            <p:cNvPr name="Picture 4" id="4"/>
            <p:cNvPicPr>
              <a:picLocks noChangeAspect="true"/>
            </p:cNvPicPr>
            <p:nvPr/>
          </p:nvPicPr>
          <p:blipFill>
            <a:blip r:embed="rId3"/>
            <a:srcRect l="4764" t="0" r="4764" b="0"/>
            <a:stretch>
              <a:fillRect/>
            </a:stretch>
          </p:blipFill>
          <p:spPr>
            <a:xfrm flipH="false" flipV="false">
              <a:off x="0" y="0"/>
              <a:ext cx="9131667" cy="7134892"/>
            </a:xfrm>
            <a:prstGeom prst="rect">
              <a:avLst/>
            </a:prstGeom>
          </p:spPr>
        </p:pic>
      </p:grpSp>
      <p:sp>
        <p:nvSpPr>
          <p:cNvPr name="Freeform 5" id="5"/>
          <p:cNvSpPr/>
          <p:nvPr/>
        </p:nvSpPr>
        <p:spPr>
          <a:xfrm flipH="false" flipV="false" rot="0">
            <a:off x="2150797" y="-2057400"/>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4">
              <a:alphaModFix amt="42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8075466" y="8479911"/>
            <a:ext cx="4804968" cy="4114800"/>
          </a:xfrm>
          <a:custGeom>
            <a:avLst/>
            <a:gdLst/>
            <a:ahLst/>
            <a:cxnLst/>
            <a:rect r="r" b="b" t="t" l="l"/>
            <a:pathLst>
              <a:path h="4114800" w="4804968">
                <a:moveTo>
                  <a:pt x="0" y="0"/>
                </a:moveTo>
                <a:lnTo>
                  <a:pt x="4804969" y="0"/>
                </a:lnTo>
                <a:lnTo>
                  <a:pt x="4804969" y="4114800"/>
                </a:lnTo>
                <a:lnTo>
                  <a:pt x="0" y="4114800"/>
                </a:lnTo>
                <a:lnTo>
                  <a:pt x="0" y="0"/>
                </a:lnTo>
                <a:close/>
              </a:path>
            </a:pathLst>
          </a:custGeom>
          <a:blipFill>
            <a:blip r:embed="rId4">
              <a:alphaModFix amt="42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00620">
            <a:off x="11890066" y="4287915"/>
            <a:ext cx="10115723" cy="5676756"/>
          </a:xfrm>
          <a:custGeom>
            <a:avLst/>
            <a:gdLst/>
            <a:ahLst/>
            <a:cxnLst/>
            <a:rect r="r" b="b" t="t" l="l"/>
            <a:pathLst>
              <a:path h="5676756" w="10115723">
                <a:moveTo>
                  <a:pt x="0" y="0"/>
                </a:moveTo>
                <a:lnTo>
                  <a:pt x="10115724" y="0"/>
                </a:lnTo>
                <a:lnTo>
                  <a:pt x="10115724" y="5676756"/>
                </a:lnTo>
                <a:lnTo>
                  <a:pt x="0" y="5676756"/>
                </a:lnTo>
                <a:lnTo>
                  <a:pt x="0" y="0"/>
                </a:lnTo>
                <a:close/>
              </a:path>
            </a:pathLst>
          </a:custGeom>
          <a:blipFill>
            <a:blip r:embed="rId6"/>
            <a:stretch>
              <a:fillRect l="0" t="0" r="0" b="0"/>
            </a:stretch>
          </a:blipFill>
        </p:spPr>
      </p:sp>
      <p:sp>
        <p:nvSpPr>
          <p:cNvPr name="Freeform 8" id="8"/>
          <p:cNvSpPr/>
          <p:nvPr/>
        </p:nvSpPr>
        <p:spPr>
          <a:xfrm flipH="false" flipV="false" rot="0">
            <a:off x="2575505" y="7126293"/>
            <a:ext cx="3442724" cy="2704103"/>
          </a:xfrm>
          <a:custGeom>
            <a:avLst/>
            <a:gdLst/>
            <a:ahLst/>
            <a:cxnLst/>
            <a:rect r="r" b="b" t="t" l="l"/>
            <a:pathLst>
              <a:path h="2704103" w="3442724">
                <a:moveTo>
                  <a:pt x="0" y="0"/>
                </a:moveTo>
                <a:lnTo>
                  <a:pt x="3442724" y="0"/>
                </a:lnTo>
                <a:lnTo>
                  <a:pt x="3442724" y="2704103"/>
                </a:lnTo>
                <a:lnTo>
                  <a:pt x="0" y="27041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259827" y="3418952"/>
            <a:ext cx="9979058" cy="3187963"/>
          </a:xfrm>
          <a:prstGeom prst="rect">
            <a:avLst/>
          </a:prstGeom>
        </p:spPr>
        <p:txBody>
          <a:bodyPr anchor="t" rtlCol="false" tIns="0" lIns="0" bIns="0" rIns="0">
            <a:spAutoFit/>
          </a:bodyPr>
          <a:lstStyle/>
          <a:p>
            <a:pPr algn="l">
              <a:lnSpc>
                <a:spcPts val="19184"/>
              </a:lnSpc>
            </a:pPr>
            <a:r>
              <a:rPr lang="en-US" sz="19983">
                <a:solidFill>
                  <a:srgbClr val="FFFFFF"/>
                </a:solidFill>
                <a:latin typeface="Anton"/>
                <a:ea typeface="Anton"/>
                <a:cs typeface="Anton"/>
                <a:sym typeface="Anton"/>
              </a:rPr>
              <a:t>MEDIBOND</a:t>
            </a:r>
          </a:p>
          <a:p>
            <a:pPr algn="l">
              <a:lnSpc>
                <a:spcPts val="6432"/>
              </a:lnSpc>
            </a:pPr>
            <a:r>
              <a:rPr lang="en-US" sz="6700">
                <a:solidFill>
                  <a:srgbClr val="008080"/>
                </a:solidFill>
                <a:latin typeface="Anton"/>
                <a:ea typeface="Anton"/>
                <a:cs typeface="Anton"/>
                <a:sym typeface="Anton"/>
              </a:rPr>
              <a:t>BLOCKCHAIN THAT HEALS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7779055" y="-2319634"/>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170832" y="2343596"/>
            <a:ext cx="3248269" cy="2895425"/>
            <a:chOff x="0" y="0"/>
            <a:chExt cx="4331025" cy="3860567"/>
          </a:xfrm>
        </p:grpSpPr>
        <p:pic>
          <p:nvPicPr>
            <p:cNvPr name="Picture 4" id="4"/>
            <p:cNvPicPr>
              <a:picLocks noChangeAspect="true"/>
            </p:cNvPicPr>
            <p:nvPr/>
          </p:nvPicPr>
          <p:blipFill>
            <a:blip r:embed="rId4"/>
            <a:srcRect l="0" t="6922" r="0" b="6922"/>
            <a:stretch>
              <a:fillRect/>
            </a:stretch>
          </p:blipFill>
          <p:spPr>
            <a:xfrm flipH="false" flipV="false">
              <a:off x="0" y="0"/>
              <a:ext cx="4331025" cy="3860567"/>
            </a:xfrm>
            <a:prstGeom prst="rect">
              <a:avLst/>
            </a:prstGeom>
          </p:spPr>
        </p:pic>
      </p:grpSp>
      <p:sp>
        <p:nvSpPr>
          <p:cNvPr name="Freeform 5" id="5"/>
          <p:cNvSpPr/>
          <p:nvPr/>
        </p:nvSpPr>
        <p:spPr>
          <a:xfrm flipH="false" flipV="false" rot="0">
            <a:off x="16501745" y="1028700"/>
            <a:ext cx="757555" cy="189389"/>
          </a:xfrm>
          <a:custGeom>
            <a:avLst/>
            <a:gdLst/>
            <a:ahLst/>
            <a:cxnLst/>
            <a:rect r="r" b="b" t="t" l="l"/>
            <a:pathLst>
              <a:path h="189389" w="757555">
                <a:moveTo>
                  <a:pt x="0" y="0"/>
                </a:moveTo>
                <a:lnTo>
                  <a:pt x="757555" y="0"/>
                </a:lnTo>
                <a:lnTo>
                  <a:pt x="757555" y="189389"/>
                </a:lnTo>
                <a:lnTo>
                  <a:pt x="0" y="18938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393538" y="2121742"/>
            <a:ext cx="1985962" cy="5521735"/>
            <a:chOff x="0" y="0"/>
            <a:chExt cx="2647950" cy="7362314"/>
          </a:xfrm>
        </p:grpSpPr>
        <p:sp>
          <p:nvSpPr>
            <p:cNvPr name="AutoShape 7" id="7"/>
            <p:cNvSpPr/>
            <p:nvPr/>
          </p:nvSpPr>
          <p:spPr>
            <a:xfrm flipV="true">
              <a:off x="2628900" y="0"/>
              <a:ext cx="0" cy="7362314"/>
            </a:xfrm>
            <a:prstGeom prst="line">
              <a:avLst/>
            </a:prstGeom>
            <a:ln cap="flat" w="38100">
              <a:solidFill>
                <a:srgbClr val="FFFFFF"/>
              </a:solidFill>
              <a:prstDash val="solid"/>
              <a:headEnd type="none" len="sm" w="sm"/>
              <a:tailEnd type="none" len="sm" w="sm"/>
            </a:ln>
          </p:spPr>
        </p:sp>
        <p:sp>
          <p:nvSpPr>
            <p:cNvPr name="TextBox 8" id="8"/>
            <p:cNvSpPr txBox="true"/>
            <p:nvPr/>
          </p:nvSpPr>
          <p:spPr>
            <a:xfrm rot="-5400000">
              <a:off x="-2519839" y="2748439"/>
              <a:ext cx="7362314" cy="1865436"/>
            </a:xfrm>
            <a:prstGeom prst="rect">
              <a:avLst/>
            </a:prstGeom>
          </p:spPr>
          <p:txBody>
            <a:bodyPr anchor="t" rtlCol="false" tIns="0" lIns="0" bIns="0" rIns="0">
              <a:spAutoFit/>
            </a:bodyPr>
            <a:lstStyle/>
            <a:p>
              <a:pPr algn="ctr">
                <a:lnSpc>
                  <a:spcPts val="9917"/>
                </a:lnSpc>
              </a:pPr>
              <a:r>
                <a:rPr lang="en-US" sz="10331">
                  <a:solidFill>
                    <a:srgbClr val="FFFFFF"/>
                  </a:solidFill>
                  <a:latin typeface="Anton"/>
                  <a:ea typeface="Anton"/>
                  <a:cs typeface="Anton"/>
                  <a:sym typeface="Anton"/>
                </a:rPr>
                <a:t>OUR TEAM</a:t>
              </a:r>
            </a:p>
          </p:txBody>
        </p:sp>
      </p:grpSp>
      <p:sp>
        <p:nvSpPr>
          <p:cNvPr name="Freeform 9" id="9"/>
          <p:cNvSpPr/>
          <p:nvPr/>
        </p:nvSpPr>
        <p:spPr>
          <a:xfrm flipH="false" flipV="false" rot="-2172153">
            <a:off x="145174" y="8229600"/>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9236859" y="5491878"/>
            <a:ext cx="3062552" cy="3201039"/>
            <a:chOff x="0" y="0"/>
            <a:chExt cx="4083402" cy="4268052"/>
          </a:xfrm>
        </p:grpSpPr>
        <p:pic>
          <p:nvPicPr>
            <p:cNvPr name="Picture 11" id="11"/>
            <p:cNvPicPr>
              <a:picLocks noChangeAspect="true"/>
            </p:cNvPicPr>
            <p:nvPr/>
          </p:nvPicPr>
          <p:blipFill>
            <a:blip r:embed="rId7"/>
            <a:srcRect l="0" t="15577" r="0" b="15577"/>
            <a:stretch>
              <a:fillRect/>
            </a:stretch>
          </p:blipFill>
          <p:spPr>
            <a:xfrm flipH="false" flipV="false">
              <a:off x="0" y="0"/>
              <a:ext cx="4083402" cy="4268052"/>
            </a:xfrm>
            <a:prstGeom prst="rect">
              <a:avLst/>
            </a:prstGeom>
          </p:spPr>
        </p:pic>
      </p:grpSp>
      <p:grpSp>
        <p:nvGrpSpPr>
          <p:cNvPr name="Group 12" id="12"/>
          <p:cNvGrpSpPr/>
          <p:nvPr/>
        </p:nvGrpSpPr>
        <p:grpSpPr>
          <a:xfrm rot="0">
            <a:off x="11948099" y="1108753"/>
            <a:ext cx="3302036" cy="2870487"/>
            <a:chOff x="0" y="0"/>
            <a:chExt cx="4402715" cy="3827316"/>
          </a:xfrm>
        </p:grpSpPr>
        <p:pic>
          <p:nvPicPr>
            <p:cNvPr name="Picture 13" id="13"/>
            <p:cNvPicPr>
              <a:picLocks noChangeAspect="true"/>
            </p:cNvPicPr>
            <p:nvPr/>
          </p:nvPicPr>
          <p:blipFill>
            <a:blip r:embed="rId8"/>
            <a:srcRect l="0" t="6613" r="0" b="6613"/>
            <a:stretch>
              <a:fillRect/>
            </a:stretch>
          </p:blipFill>
          <p:spPr>
            <a:xfrm flipH="false" flipV="false">
              <a:off x="0" y="0"/>
              <a:ext cx="4402715" cy="3827316"/>
            </a:xfrm>
            <a:prstGeom prst="rect">
              <a:avLst/>
            </a:prstGeom>
          </p:spPr>
        </p:pic>
      </p:grpSp>
      <p:sp>
        <p:nvSpPr>
          <p:cNvPr name="TextBox 14" id="14"/>
          <p:cNvSpPr txBox="true"/>
          <p:nvPr/>
        </p:nvSpPr>
        <p:spPr>
          <a:xfrm rot="0">
            <a:off x="4445934" y="5387944"/>
            <a:ext cx="4698066" cy="990399"/>
          </a:xfrm>
          <a:prstGeom prst="rect">
            <a:avLst/>
          </a:prstGeom>
        </p:spPr>
        <p:txBody>
          <a:bodyPr anchor="t" rtlCol="false" tIns="0" lIns="0" bIns="0" rIns="0">
            <a:spAutoFit/>
          </a:bodyPr>
          <a:lstStyle/>
          <a:p>
            <a:pPr algn="ctr">
              <a:lnSpc>
                <a:spcPts val="4295"/>
              </a:lnSpc>
            </a:pPr>
            <a:r>
              <a:rPr lang="en-US" sz="3835" b="true">
                <a:solidFill>
                  <a:srgbClr val="FFFFFF"/>
                </a:solidFill>
                <a:latin typeface="Helvetica World Bold"/>
                <a:ea typeface="Helvetica World Bold"/>
                <a:cs typeface="Helvetica World Bold"/>
                <a:sym typeface="Helvetica World Bold"/>
              </a:rPr>
              <a:t>Amaan</a:t>
            </a:r>
          </a:p>
          <a:p>
            <a:pPr algn="ctr">
              <a:lnSpc>
                <a:spcPts val="2800"/>
              </a:lnSpc>
            </a:pPr>
            <a:r>
              <a:rPr lang="en-US" sz="2500" b="true">
                <a:solidFill>
                  <a:srgbClr val="FFFFFF"/>
                </a:solidFill>
                <a:latin typeface="Helvetica World Bold"/>
                <a:ea typeface="Helvetica World Bold"/>
                <a:cs typeface="Helvetica World Bold"/>
                <a:sym typeface="Helvetica World Bold"/>
              </a:rPr>
              <a:t>AI / ML Engineer</a:t>
            </a:r>
          </a:p>
        </p:txBody>
      </p:sp>
      <p:sp>
        <p:nvSpPr>
          <p:cNvPr name="TextBox 15" id="15"/>
          <p:cNvSpPr txBox="true"/>
          <p:nvPr/>
        </p:nvSpPr>
        <p:spPr>
          <a:xfrm rot="0">
            <a:off x="10841806" y="4153101"/>
            <a:ext cx="5514623" cy="990399"/>
          </a:xfrm>
          <a:prstGeom prst="rect">
            <a:avLst/>
          </a:prstGeom>
        </p:spPr>
        <p:txBody>
          <a:bodyPr anchor="t" rtlCol="false" tIns="0" lIns="0" bIns="0" rIns="0">
            <a:spAutoFit/>
          </a:bodyPr>
          <a:lstStyle/>
          <a:p>
            <a:pPr algn="ctr">
              <a:lnSpc>
                <a:spcPts val="4295"/>
              </a:lnSpc>
            </a:pPr>
            <a:r>
              <a:rPr lang="en-US" sz="3835" b="true">
                <a:solidFill>
                  <a:srgbClr val="FFFFFF"/>
                </a:solidFill>
                <a:latin typeface="Helvetica World Bold"/>
                <a:ea typeface="Helvetica World Bold"/>
                <a:cs typeface="Helvetica World Bold"/>
                <a:sym typeface="Helvetica World Bold"/>
              </a:rPr>
              <a:t>Moinuddin</a:t>
            </a:r>
          </a:p>
          <a:p>
            <a:pPr algn="ctr">
              <a:lnSpc>
                <a:spcPts val="2800"/>
              </a:lnSpc>
            </a:pPr>
            <a:r>
              <a:rPr lang="en-US" sz="2500" b="true">
                <a:solidFill>
                  <a:srgbClr val="FFFFFF"/>
                </a:solidFill>
                <a:latin typeface="Helvetica World Bold"/>
                <a:ea typeface="Helvetica World Bold"/>
                <a:cs typeface="Helvetica World Bold"/>
                <a:sym typeface="Helvetica World Bold"/>
              </a:rPr>
              <a:t>Cybersecurity Engineer</a:t>
            </a:r>
          </a:p>
        </p:txBody>
      </p:sp>
      <p:sp>
        <p:nvSpPr>
          <p:cNvPr name="TextBox 16" id="16"/>
          <p:cNvSpPr txBox="true"/>
          <p:nvPr/>
        </p:nvSpPr>
        <p:spPr>
          <a:xfrm rot="0">
            <a:off x="8419101" y="8804499"/>
            <a:ext cx="4698066" cy="990579"/>
          </a:xfrm>
          <a:prstGeom prst="rect">
            <a:avLst/>
          </a:prstGeom>
        </p:spPr>
        <p:txBody>
          <a:bodyPr anchor="t" rtlCol="false" tIns="0" lIns="0" bIns="0" rIns="0">
            <a:spAutoFit/>
          </a:bodyPr>
          <a:lstStyle/>
          <a:p>
            <a:pPr algn="ctr">
              <a:lnSpc>
                <a:spcPts val="4295"/>
              </a:lnSpc>
            </a:pPr>
            <a:r>
              <a:rPr lang="en-US" sz="3835" b="true">
                <a:solidFill>
                  <a:srgbClr val="FFFFFF"/>
                </a:solidFill>
                <a:latin typeface="Helvetica World Bold"/>
                <a:ea typeface="Helvetica World Bold"/>
                <a:cs typeface="Helvetica World Bold"/>
                <a:sym typeface="Helvetica World Bold"/>
              </a:rPr>
              <a:t>Wafiq</a:t>
            </a:r>
          </a:p>
          <a:p>
            <a:pPr algn="ctr">
              <a:lnSpc>
                <a:spcPts val="2839"/>
              </a:lnSpc>
            </a:pPr>
            <a:r>
              <a:rPr lang="en-US" sz="2535" b="true">
                <a:solidFill>
                  <a:srgbClr val="FFFFFF"/>
                </a:solidFill>
                <a:latin typeface="Helvetica World Bold"/>
                <a:ea typeface="Helvetica World Bold"/>
                <a:cs typeface="Helvetica World Bold"/>
                <a:sym typeface="Helvetica World Bold"/>
              </a:rPr>
              <a:t>Software Engineer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2B3D73">
                <a:alpha val="100000"/>
              </a:srgbClr>
            </a:gs>
            <a:gs pos="100000">
              <a:srgbClr val="6A779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5940773" y="1622396"/>
            <a:ext cx="1318527" cy="329632"/>
          </a:xfrm>
          <a:custGeom>
            <a:avLst/>
            <a:gdLst/>
            <a:ahLst/>
            <a:cxnLst/>
            <a:rect r="r" b="b" t="t" l="l"/>
            <a:pathLst>
              <a:path h="329632" w="1318527">
                <a:moveTo>
                  <a:pt x="0" y="0"/>
                </a:moveTo>
                <a:lnTo>
                  <a:pt x="1318527" y="0"/>
                </a:lnTo>
                <a:lnTo>
                  <a:pt x="1318527" y="329632"/>
                </a:lnTo>
                <a:lnTo>
                  <a:pt x="0" y="3296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7557719" y="-2540387"/>
            <a:ext cx="6209522" cy="5317609"/>
          </a:xfrm>
          <a:custGeom>
            <a:avLst/>
            <a:gdLst/>
            <a:ahLst/>
            <a:cxnLst/>
            <a:rect r="r" b="b" t="t" l="l"/>
            <a:pathLst>
              <a:path h="5317609" w="6209522">
                <a:moveTo>
                  <a:pt x="6209522" y="0"/>
                </a:moveTo>
                <a:lnTo>
                  <a:pt x="0" y="0"/>
                </a:lnTo>
                <a:lnTo>
                  <a:pt x="0" y="5317608"/>
                </a:lnTo>
                <a:lnTo>
                  <a:pt x="6209522" y="5317608"/>
                </a:lnTo>
                <a:lnTo>
                  <a:pt x="6209522" y="0"/>
                </a:lnTo>
                <a:close/>
              </a:path>
            </a:pathLst>
          </a:custGeom>
          <a:blipFill>
            <a:blip r:embed="rId4">
              <a:alphaModFix amt="42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4350124" y="7775700"/>
            <a:ext cx="6209522" cy="5317609"/>
          </a:xfrm>
          <a:custGeom>
            <a:avLst/>
            <a:gdLst/>
            <a:ahLst/>
            <a:cxnLst/>
            <a:rect r="r" b="b" t="t" l="l"/>
            <a:pathLst>
              <a:path h="5317609" w="6209522">
                <a:moveTo>
                  <a:pt x="6209521" y="0"/>
                </a:moveTo>
                <a:lnTo>
                  <a:pt x="0" y="0"/>
                </a:lnTo>
                <a:lnTo>
                  <a:pt x="0" y="5317609"/>
                </a:lnTo>
                <a:lnTo>
                  <a:pt x="6209521" y="5317609"/>
                </a:lnTo>
                <a:lnTo>
                  <a:pt x="6209521" y="0"/>
                </a:lnTo>
                <a:close/>
              </a:path>
            </a:pathLst>
          </a:custGeom>
          <a:blipFill>
            <a:blip r:embed="rId4">
              <a:alphaModFix amt="42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757281" y="1275213"/>
            <a:ext cx="5395067" cy="1353631"/>
            <a:chOff x="0" y="0"/>
            <a:chExt cx="7193423" cy="1804841"/>
          </a:xfrm>
        </p:grpSpPr>
        <p:sp>
          <p:nvSpPr>
            <p:cNvPr name="Freeform 6" id="6"/>
            <p:cNvSpPr/>
            <p:nvPr/>
          </p:nvSpPr>
          <p:spPr>
            <a:xfrm flipH="false" flipV="false" rot="0">
              <a:off x="180727" y="1552323"/>
              <a:ext cx="1010073" cy="252518"/>
            </a:xfrm>
            <a:custGeom>
              <a:avLst/>
              <a:gdLst/>
              <a:ahLst/>
              <a:cxnLst/>
              <a:rect r="r" b="b" t="t" l="l"/>
              <a:pathLst>
                <a:path h="252518" w="1010073">
                  <a:moveTo>
                    <a:pt x="0" y="0"/>
                  </a:moveTo>
                  <a:lnTo>
                    <a:pt x="1010073" y="0"/>
                  </a:lnTo>
                  <a:lnTo>
                    <a:pt x="1010073" y="252518"/>
                  </a:lnTo>
                  <a:lnTo>
                    <a:pt x="0" y="2525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0" y="180975"/>
              <a:ext cx="7193423" cy="1371348"/>
            </a:xfrm>
            <a:prstGeom prst="rect">
              <a:avLst/>
            </a:prstGeom>
          </p:spPr>
          <p:txBody>
            <a:bodyPr anchor="t" rtlCol="false" tIns="0" lIns="0" bIns="0" rIns="0">
              <a:spAutoFit/>
            </a:bodyPr>
            <a:lstStyle/>
            <a:p>
              <a:pPr algn="l">
                <a:lnSpc>
                  <a:spcPts val="7371"/>
                </a:lnSpc>
              </a:pPr>
              <a:r>
                <a:rPr lang="en-US" sz="7678">
                  <a:solidFill>
                    <a:srgbClr val="FFFFFF"/>
                  </a:solidFill>
                  <a:latin typeface="Anton"/>
                  <a:ea typeface="Anton"/>
                  <a:cs typeface="Anton"/>
                  <a:sym typeface="Anton"/>
                </a:rPr>
                <a:t>THE PROBLEM</a:t>
              </a:r>
            </a:p>
          </p:txBody>
        </p:sp>
      </p:grpSp>
      <p:sp>
        <p:nvSpPr>
          <p:cNvPr name="TextBox 8" id="8"/>
          <p:cNvSpPr txBox="true"/>
          <p:nvPr/>
        </p:nvSpPr>
        <p:spPr>
          <a:xfrm rot="0">
            <a:off x="298793" y="3410428"/>
            <a:ext cx="15641980" cy="708593"/>
          </a:xfrm>
          <a:prstGeom prst="rect">
            <a:avLst/>
          </a:prstGeom>
        </p:spPr>
        <p:txBody>
          <a:bodyPr anchor="t" rtlCol="false" tIns="0" lIns="0" bIns="0" rIns="0">
            <a:spAutoFit/>
          </a:bodyPr>
          <a:lstStyle/>
          <a:p>
            <a:pPr algn="ctr">
              <a:lnSpc>
                <a:spcPts val="5358"/>
              </a:lnSpc>
              <a:spcBef>
                <a:spcPct val="0"/>
              </a:spcBef>
            </a:pPr>
            <a:r>
              <a:rPr lang="en-US" b="true" sz="3827">
                <a:solidFill>
                  <a:srgbClr val="FFFFFF"/>
                </a:solidFill>
                <a:latin typeface="Helvetica World Bold"/>
                <a:ea typeface="Helvetica World Bold"/>
                <a:cs typeface="Helvetica World Bold"/>
                <a:sym typeface="Helvetica World Bold"/>
              </a:rPr>
              <a:t>“What If the Medicine That Was Meant to Heal </a:t>
            </a:r>
            <a:r>
              <a:rPr lang="en-US" b="true" sz="3827">
                <a:solidFill>
                  <a:srgbClr val="FFFFFF"/>
                </a:solidFill>
                <a:latin typeface="Helvetica World Bold"/>
                <a:ea typeface="Helvetica World Bold"/>
                <a:cs typeface="Helvetica World Bold"/>
                <a:sym typeface="Helvetica World Bold"/>
              </a:rPr>
              <a:t>You... Was Fake?”</a:t>
            </a:r>
          </a:p>
        </p:txBody>
      </p:sp>
      <p:grpSp>
        <p:nvGrpSpPr>
          <p:cNvPr name="Group 9" id="9"/>
          <p:cNvGrpSpPr/>
          <p:nvPr/>
        </p:nvGrpSpPr>
        <p:grpSpPr>
          <a:xfrm rot="0">
            <a:off x="1801335" y="5359692"/>
            <a:ext cx="15262976" cy="2067769"/>
            <a:chOff x="0" y="0"/>
            <a:chExt cx="20350634" cy="2757025"/>
          </a:xfrm>
        </p:grpSpPr>
        <p:sp>
          <p:nvSpPr>
            <p:cNvPr name="TextBox 10" id="10"/>
            <p:cNvSpPr txBox="true"/>
            <p:nvPr/>
          </p:nvSpPr>
          <p:spPr>
            <a:xfrm rot="0">
              <a:off x="0" y="1901279"/>
              <a:ext cx="20115145" cy="855746"/>
            </a:xfrm>
            <a:prstGeom prst="rect">
              <a:avLst/>
            </a:prstGeom>
          </p:spPr>
          <p:txBody>
            <a:bodyPr anchor="t" rtlCol="false" tIns="0" lIns="0" bIns="0" rIns="0">
              <a:spAutoFit/>
            </a:bodyPr>
            <a:lstStyle/>
            <a:p>
              <a:pPr algn="ctr">
                <a:lnSpc>
                  <a:spcPts val="4970"/>
                </a:lnSpc>
                <a:spcBef>
                  <a:spcPct val="0"/>
                </a:spcBef>
              </a:pPr>
              <a:r>
                <a:rPr lang="en-US" b="true" sz="3550">
                  <a:solidFill>
                    <a:srgbClr val="FFFFFF"/>
                  </a:solidFill>
                  <a:latin typeface="Helvetica World Bold"/>
                  <a:ea typeface="Helvetica World Bold"/>
                  <a:cs typeface="Helvetica World Bold"/>
                  <a:sym typeface="Helvetica World Bold"/>
                </a:rPr>
                <a:t>This isn’t fiction — it’s happening every day around the world.”</a:t>
              </a:r>
            </a:p>
          </p:txBody>
        </p:sp>
        <p:sp>
          <p:nvSpPr>
            <p:cNvPr name="TextBox 11" id="11"/>
            <p:cNvSpPr txBox="true"/>
            <p:nvPr/>
          </p:nvSpPr>
          <p:spPr>
            <a:xfrm rot="0">
              <a:off x="0" y="-133350"/>
              <a:ext cx="20350634" cy="1713081"/>
            </a:xfrm>
            <a:prstGeom prst="rect">
              <a:avLst/>
            </a:prstGeom>
          </p:spPr>
          <p:txBody>
            <a:bodyPr anchor="t" rtlCol="false" tIns="0" lIns="0" bIns="0" rIns="0">
              <a:spAutoFit/>
            </a:bodyPr>
            <a:lstStyle/>
            <a:p>
              <a:pPr algn="ctr">
                <a:lnSpc>
                  <a:spcPts val="9981"/>
                </a:lnSpc>
                <a:spcBef>
                  <a:spcPct val="0"/>
                </a:spcBef>
              </a:pPr>
              <a:r>
                <a:rPr lang="en-US" b="true" sz="7129">
                  <a:solidFill>
                    <a:srgbClr val="FFFFFF"/>
                  </a:solidFill>
                  <a:latin typeface="Helvetica World Bold"/>
                  <a:ea typeface="Helvetica World Bold"/>
                  <a:cs typeface="Helvetica World Bold"/>
                  <a:sym typeface="Helvetica World Bold"/>
                </a:rPr>
                <a:t>Over 250,000 people die every year</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27B9A"/>
        </a:solidFill>
      </p:bgPr>
    </p:bg>
    <p:spTree>
      <p:nvGrpSpPr>
        <p:cNvPr id="1" name=""/>
        <p:cNvGrpSpPr/>
        <p:nvPr/>
      </p:nvGrpSpPr>
      <p:grpSpPr>
        <a:xfrm>
          <a:off x="0" y="0"/>
          <a:ext cx="0" cy="0"/>
          <a:chOff x="0" y="0"/>
          <a:chExt cx="0" cy="0"/>
        </a:xfrm>
      </p:grpSpPr>
      <p:sp>
        <p:nvSpPr>
          <p:cNvPr name="Freeform 2" id="2"/>
          <p:cNvSpPr/>
          <p:nvPr/>
        </p:nvSpPr>
        <p:spPr>
          <a:xfrm flipH="false" flipV="false" rot="-2815117">
            <a:off x="985458" y="7112989"/>
            <a:ext cx="5032251" cy="6348023"/>
          </a:xfrm>
          <a:custGeom>
            <a:avLst/>
            <a:gdLst/>
            <a:ahLst/>
            <a:cxnLst/>
            <a:rect r="r" b="b" t="t" l="l"/>
            <a:pathLst>
              <a:path h="6348023" w="5032251">
                <a:moveTo>
                  <a:pt x="0" y="0"/>
                </a:moveTo>
                <a:lnTo>
                  <a:pt x="5032250" y="0"/>
                </a:lnTo>
                <a:lnTo>
                  <a:pt x="5032250" y="6348022"/>
                </a:lnTo>
                <a:lnTo>
                  <a:pt x="0" y="63480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8621" y="1386302"/>
            <a:ext cx="6715549" cy="4114800"/>
          </a:xfrm>
          <a:custGeom>
            <a:avLst/>
            <a:gdLst/>
            <a:ahLst/>
            <a:cxnLst/>
            <a:rect r="r" b="b" t="t" l="l"/>
            <a:pathLst>
              <a:path h="4114800" w="6715549">
                <a:moveTo>
                  <a:pt x="0" y="0"/>
                </a:moveTo>
                <a:lnTo>
                  <a:pt x="6715549" y="0"/>
                </a:lnTo>
                <a:lnTo>
                  <a:pt x="671554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703438">
            <a:off x="13068632" y="3982148"/>
            <a:ext cx="5180051" cy="7158362"/>
          </a:xfrm>
          <a:custGeom>
            <a:avLst/>
            <a:gdLst/>
            <a:ahLst/>
            <a:cxnLst/>
            <a:rect r="r" b="b" t="t" l="l"/>
            <a:pathLst>
              <a:path h="7158362" w="5180051">
                <a:moveTo>
                  <a:pt x="0" y="0"/>
                </a:moveTo>
                <a:lnTo>
                  <a:pt x="5180051" y="0"/>
                </a:lnTo>
                <a:lnTo>
                  <a:pt x="5180051" y="7158362"/>
                </a:lnTo>
                <a:lnTo>
                  <a:pt x="0" y="71583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995706" y="-3525269"/>
            <a:ext cx="6643295" cy="8342038"/>
          </a:xfrm>
          <a:custGeom>
            <a:avLst/>
            <a:gdLst/>
            <a:ahLst/>
            <a:cxnLst/>
            <a:rect r="r" b="b" t="t" l="l"/>
            <a:pathLst>
              <a:path h="8342038" w="6643295">
                <a:moveTo>
                  <a:pt x="0" y="0"/>
                </a:moveTo>
                <a:lnTo>
                  <a:pt x="6643296" y="0"/>
                </a:lnTo>
                <a:lnTo>
                  <a:pt x="6643296" y="8342037"/>
                </a:lnTo>
                <a:lnTo>
                  <a:pt x="0" y="83420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7717801">
            <a:off x="153363" y="-2476475"/>
            <a:ext cx="9150436" cy="12426518"/>
          </a:xfrm>
          <a:custGeom>
            <a:avLst/>
            <a:gdLst/>
            <a:ahLst/>
            <a:cxnLst/>
            <a:rect r="r" b="b" t="t" l="l"/>
            <a:pathLst>
              <a:path h="12426518" w="9150436">
                <a:moveTo>
                  <a:pt x="0" y="0"/>
                </a:moveTo>
                <a:lnTo>
                  <a:pt x="9150436" y="0"/>
                </a:lnTo>
                <a:lnTo>
                  <a:pt x="9150436" y="12426518"/>
                </a:lnTo>
                <a:lnTo>
                  <a:pt x="0" y="124265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3761421">
            <a:off x="7443948" y="-871081"/>
            <a:ext cx="9150436" cy="12426518"/>
          </a:xfrm>
          <a:custGeom>
            <a:avLst/>
            <a:gdLst/>
            <a:ahLst/>
            <a:cxnLst/>
            <a:rect r="r" b="b" t="t" l="l"/>
            <a:pathLst>
              <a:path h="12426518" w="9150436">
                <a:moveTo>
                  <a:pt x="0" y="0"/>
                </a:moveTo>
                <a:lnTo>
                  <a:pt x="9150436" y="0"/>
                </a:lnTo>
                <a:lnTo>
                  <a:pt x="9150436" y="12426518"/>
                </a:lnTo>
                <a:lnTo>
                  <a:pt x="0" y="124265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772256">
            <a:off x="268265" y="850123"/>
            <a:ext cx="11902066" cy="3751097"/>
          </a:xfrm>
          <a:custGeom>
            <a:avLst/>
            <a:gdLst/>
            <a:ahLst/>
            <a:cxnLst/>
            <a:rect r="r" b="b" t="t" l="l"/>
            <a:pathLst>
              <a:path h="3751097" w="11902066">
                <a:moveTo>
                  <a:pt x="0" y="0"/>
                </a:moveTo>
                <a:lnTo>
                  <a:pt x="11902067" y="0"/>
                </a:lnTo>
                <a:lnTo>
                  <a:pt x="11902067" y="3751097"/>
                </a:lnTo>
                <a:lnTo>
                  <a:pt x="0" y="3751097"/>
                </a:lnTo>
                <a:lnTo>
                  <a:pt x="0" y="0"/>
                </a:lnTo>
                <a:close/>
              </a:path>
            </a:pathLst>
          </a:custGeom>
          <a:blipFill>
            <a:blip r:embed="rId12"/>
            <a:stretch>
              <a:fillRect l="0" t="0" r="0" b="0"/>
            </a:stretch>
          </a:blipFill>
        </p:spPr>
      </p:sp>
      <p:sp>
        <p:nvSpPr>
          <p:cNvPr name="Freeform 9" id="9"/>
          <p:cNvSpPr/>
          <p:nvPr/>
        </p:nvSpPr>
        <p:spPr>
          <a:xfrm flipH="false" flipV="false" rot="-635669">
            <a:off x="8208693" y="3803511"/>
            <a:ext cx="11982598" cy="2780772"/>
          </a:xfrm>
          <a:custGeom>
            <a:avLst/>
            <a:gdLst/>
            <a:ahLst/>
            <a:cxnLst/>
            <a:rect r="r" b="b" t="t" l="l"/>
            <a:pathLst>
              <a:path h="2780772" w="11982598">
                <a:moveTo>
                  <a:pt x="0" y="0"/>
                </a:moveTo>
                <a:lnTo>
                  <a:pt x="11982599" y="0"/>
                </a:lnTo>
                <a:lnTo>
                  <a:pt x="11982599" y="2780772"/>
                </a:lnTo>
                <a:lnTo>
                  <a:pt x="0" y="2780772"/>
                </a:lnTo>
                <a:lnTo>
                  <a:pt x="0" y="0"/>
                </a:lnTo>
                <a:close/>
              </a:path>
            </a:pathLst>
          </a:custGeom>
          <a:blipFill>
            <a:blip r:embed="rId13"/>
            <a:stretch>
              <a:fillRect l="0" t="0" r="0" b="0"/>
            </a:stretch>
          </a:blipFill>
        </p:spPr>
      </p:sp>
      <p:sp>
        <p:nvSpPr>
          <p:cNvPr name="Freeform 10" id="10"/>
          <p:cNvSpPr/>
          <p:nvPr/>
        </p:nvSpPr>
        <p:spPr>
          <a:xfrm flipH="false" flipV="false" rot="0">
            <a:off x="682387" y="7092568"/>
            <a:ext cx="12448367" cy="2723080"/>
          </a:xfrm>
          <a:custGeom>
            <a:avLst/>
            <a:gdLst/>
            <a:ahLst/>
            <a:cxnLst/>
            <a:rect r="r" b="b" t="t" l="l"/>
            <a:pathLst>
              <a:path h="2723080" w="12448367">
                <a:moveTo>
                  <a:pt x="0" y="0"/>
                </a:moveTo>
                <a:lnTo>
                  <a:pt x="12448367" y="0"/>
                </a:lnTo>
                <a:lnTo>
                  <a:pt x="12448367" y="2723081"/>
                </a:lnTo>
                <a:lnTo>
                  <a:pt x="0" y="2723081"/>
                </a:lnTo>
                <a:lnTo>
                  <a:pt x="0" y="0"/>
                </a:lnTo>
                <a:close/>
              </a:path>
            </a:pathLst>
          </a:custGeom>
          <a:blipFill>
            <a:blip r:embed="rId14"/>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9486A">
                <a:alpha val="100000"/>
              </a:srgbClr>
            </a:gs>
            <a:gs pos="100000">
              <a:srgbClr val="FCC0A5">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7106485" y="2038538"/>
            <a:ext cx="757555" cy="189389"/>
          </a:xfrm>
          <a:custGeom>
            <a:avLst/>
            <a:gdLst/>
            <a:ahLst/>
            <a:cxnLst/>
            <a:rect r="r" b="b" t="t" l="l"/>
            <a:pathLst>
              <a:path h="189389" w="757555">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896248" y="2202354"/>
            <a:ext cx="757555" cy="189389"/>
          </a:xfrm>
          <a:custGeom>
            <a:avLst/>
            <a:gdLst/>
            <a:ahLst/>
            <a:cxnLst/>
            <a:rect r="r" b="b" t="t" l="l"/>
            <a:pathLst>
              <a:path h="189389" w="757555">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63796" y="878759"/>
            <a:ext cx="7754271" cy="1323596"/>
          </a:xfrm>
          <a:prstGeom prst="rect">
            <a:avLst/>
          </a:prstGeom>
        </p:spPr>
        <p:txBody>
          <a:bodyPr anchor="t" rtlCol="false" tIns="0" lIns="0" bIns="0" rIns="0">
            <a:spAutoFit/>
          </a:bodyPr>
          <a:lstStyle/>
          <a:p>
            <a:pPr algn="l">
              <a:lnSpc>
                <a:spcPts val="9888"/>
              </a:lnSpc>
            </a:pPr>
            <a:r>
              <a:rPr lang="en-US" sz="10300">
                <a:solidFill>
                  <a:srgbClr val="FFFFFF"/>
                </a:solidFill>
                <a:latin typeface="Anton"/>
                <a:ea typeface="Anton"/>
                <a:cs typeface="Anton"/>
                <a:sym typeface="Anton"/>
              </a:rPr>
              <a:t>THE SOLUTION</a:t>
            </a:r>
          </a:p>
        </p:txBody>
      </p:sp>
      <p:grpSp>
        <p:nvGrpSpPr>
          <p:cNvPr name="Group 5" id="5"/>
          <p:cNvGrpSpPr/>
          <p:nvPr/>
        </p:nvGrpSpPr>
        <p:grpSpPr>
          <a:xfrm rot="0">
            <a:off x="6788426" y="4066212"/>
            <a:ext cx="8338470" cy="5587425"/>
            <a:chOff x="0" y="0"/>
            <a:chExt cx="11117960" cy="7449900"/>
          </a:xfrm>
        </p:grpSpPr>
        <p:sp>
          <p:nvSpPr>
            <p:cNvPr name="Freeform 6" id="6"/>
            <p:cNvSpPr/>
            <p:nvPr/>
          </p:nvSpPr>
          <p:spPr>
            <a:xfrm flipH="false" flipV="false" rot="0">
              <a:off x="7434494" y="0"/>
              <a:ext cx="3683466" cy="3683466"/>
            </a:xfrm>
            <a:custGeom>
              <a:avLst/>
              <a:gdLst/>
              <a:ahLst/>
              <a:cxnLst/>
              <a:rect r="r" b="b" t="t" l="l"/>
              <a:pathLst>
                <a:path h="3683466" w="3683466">
                  <a:moveTo>
                    <a:pt x="0" y="0"/>
                  </a:moveTo>
                  <a:lnTo>
                    <a:pt x="3683466" y="0"/>
                  </a:lnTo>
                  <a:lnTo>
                    <a:pt x="3683466" y="3683466"/>
                  </a:lnTo>
                  <a:lnTo>
                    <a:pt x="0" y="3683466"/>
                  </a:lnTo>
                  <a:lnTo>
                    <a:pt x="0" y="0"/>
                  </a:lnTo>
                  <a:close/>
                </a:path>
              </a:pathLst>
            </a:custGeom>
            <a:blipFill>
              <a:blip r:embed="rId5"/>
              <a:stretch>
                <a:fillRect l="0" t="0" r="0" b="0"/>
              </a:stretch>
            </a:blipFill>
          </p:spPr>
        </p:sp>
        <p:sp>
          <p:nvSpPr>
            <p:cNvPr name="Freeform 7" id="7"/>
            <p:cNvSpPr/>
            <p:nvPr/>
          </p:nvSpPr>
          <p:spPr>
            <a:xfrm flipH="false" flipV="false" rot="0">
              <a:off x="3733643" y="0"/>
              <a:ext cx="3700851" cy="3700851"/>
            </a:xfrm>
            <a:custGeom>
              <a:avLst/>
              <a:gdLst/>
              <a:ahLst/>
              <a:cxnLst/>
              <a:rect r="r" b="b" t="t" l="l"/>
              <a:pathLst>
                <a:path h="3700851" w="3700851">
                  <a:moveTo>
                    <a:pt x="0" y="0"/>
                  </a:moveTo>
                  <a:lnTo>
                    <a:pt x="3700851" y="0"/>
                  </a:lnTo>
                  <a:lnTo>
                    <a:pt x="3700851" y="3700851"/>
                  </a:lnTo>
                  <a:lnTo>
                    <a:pt x="0" y="3700851"/>
                  </a:lnTo>
                  <a:lnTo>
                    <a:pt x="0" y="0"/>
                  </a:lnTo>
                  <a:close/>
                </a:path>
              </a:pathLst>
            </a:custGeom>
            <a:blipFill>
              <a:blip r:embed="rId6"/>
              <a:stretch>
                <a:fillRect l="0" t="0" r="0" b="0"/>
              </a:stretch>
            </a:blipFill>
          </p:spPr>
        </p:sp>
        <p:sp>
          <p:nvSpPr>
            <p:cNvPr name="Freeform 8" id="8"/>
            <p:cNvSpPr/>
            <p:nvPr/>
          </p:nvSpPr>
          <p:spPr>
            <a:xfrm flipH="false" flipV="false" rot="0">
              <a:off x="0" y="3716257"/>
              <a:ext cx="3733643" cy="3733643"/>
            </a:xfrm>
            <a:custGeom>
              <a:avLst/>
              <a:gdLst/>
              <a:ahLst/>
              <a:cxnLst/>
              <a:rect r="r" b="b" t="t" l="l"/>
              <a:pathLst>
                <a:path h="3733643" w="3733643">
                  <a:moveTo>
                    <a:pt x="0" y="0"/>
                  </a:moveTo>
                  <a:lnTo>
                    <a:pt x="3733643" y="0"/>
                  </a:lnTo>
                  <a:lnTo>
                    <a:pt x="3733643" y="3733643"/>
                  </a:lnTo>
                  <a:lnTo>
                    <a:pt x="0" y="3733643"/>
                  </a:lnTo>
                  <a:lnTo>
                    <a:pt x="0" y="0"/>
                  </a:lnTo>
                  <a:close/>
                </a:path>
              </a:pathLst>
            </a:custGeom>
            <a:blipFill>
              <a:blip r:embed="rId7"/>
              <a:stretch>
                <a:fillRect l="0" t="0" r="0" b="0"/>
              </a:stretch>
            </a:blipFill>
          </p:spPr>
        </p:sp>
        <p:sp>
          <p:nvSpPr>
            <p:cNvPr name="Freeform 9" id="9"/>
            <p:cNvSpPr/>
            <p:nvPr/>
          </p:nvSpPr>
          <p:spPr>
            <a:xfrm flipH="false" flipV="false" rot="0">
              <a:off x="17386" y="0"/>
              <a:ext cx="3716257" cy="3716257"/>
            </a:xfrm>
            <a:custGeom>
              <a:avLst/>
              <a:gdLst/>
              <a:ahLst/>
              <a:cxnLst/>
              <a:rect r="r" b="b" t="t" l="l"/>
              <a:pathLst>
                <a:path h="3716257" w="3716257">
                  <a:moveTo>
                    <a:pt x="0" y="0"/>
                  </a:moveTo>
                  <a:lnTo>
                    <a:pt x="3716257" y="0"/>
                  </a:lnTo>
                  <a:lnTo>
                    <a:pt x="3716257" y="3716257"/>
                  </a:lnTo>
                  <a:lnTo>
                    <a:pt x="0" y="3716257"/>
                  </a:lnTo>
                  <a:lnTo>
                    <a:pt x="0" y="0"/>
                  </a:lnTo>
                  <a:close/>
                </a:path>
              </a:pathLst>
            </a:custGeom>
            <a:blipFill>
              <a:blip r:embed="rId8"/>
              <a:stretch>
                <a:fillRect l="0" t="0" r="0" b="0"/>
              </a:stretch>
            </a:blipFill>
          </p:spPr>
        </p:sp>
        <p:sp>
          <p:nvSpPr>
            <p:cNvPr name="Freeform 10" id="10"/>
            <p:cNvSpPr/>
            <p:nvPr/>
          </p:nvSpPr>
          <p:spPr>
            <a:xfrm flipH="false" flipV="false" rot="0">
              <a:off x="3733643" y="3716257"/>
              <a:ext cx="3700851" cy="3733643"/>
            </a:xfrm>
            <a:custGeom>
              <a:avLst/>
              <a:gdLst/>
              <a:ahLst/>
              <a:cxnLst/>
              <a:rect r="r" b="b" t="t" l="l"/>
              <a:pathLst>
                <a:path h="3733643" w="3700851">
                  <a:moveTo>
                    <a:pt x="0" y="0"/>
                  </a:moveTo>
                  <a:lnTo>
                    <a:pt x="3700851" y="0"/>
                  </a:lnTo>
                  <a:lnTo>
                    <a:pt x="3700851" y="3733643"/>
                  </a:lnTo>
                  <a:lnTo>
                    <a:pt x="0" y="3733643"/>
                  </a:lnTo>
                  <a:lnTo>
                    <a:pt x="0" y="0"/>
                  </a:lnTo>
                  <a:close/>
                </a:path>
              </a:pathLst>
            </a:custGeom>
            <a:blipFill>
              <a:blip r:embed="rId9"/>
              <a:stretch>
                <a:fillRect l="0" t="0" r="-886" b="0"/>
              </a:stretch>
            </a:blipFill>
          </p:spPr>
        </p:sp>
      </p:grpSp>
      <p:sp>
        <p:nvSpPr>
          <p:cNvPr name="TextBox 11" id="11"/>
          <p:cNvSpPr txBox="true"/>
          <p:nvPr/>
        </p:nvSpPr>
        <p:spPr>
          <a:xfrm rot="0">
            <a:off x="587194" y="2759382"/>
            <a:ext cx="17267103" cy="1437005"/>
          </a:xfrm>
          <a:prstGeom prst="rect">
            <a:avLst/>
          </a:prstGeom>
        </p:spPr>
        <p:txBody>
          <a:bodyPr anchor="t" rtlCol="false" tIns="0" lIns="0" bIns="0" rIns="0">
            <a:spAutoFit/>
          </a:bodyPr>
          <a:lstStyle/>
          <a:p>
            <a:pPr algn="ctr">
              <a:lnSpc>
                <a:spcPts val="6020"/>
              </a:lnSpc>
              <a:spcBef>
                <a:spcPct val="0"/>
              </a:spcBef>
            </a:pPr>
            <a:r>
              <a:rPr lang="en-US" b="true" sz="4300">
                <a:solidFill>
                  <a:srgbClr val="FFFFFF"/>
                </a:solidFill>
                <a:latin typeface="Helvetica World Bold"/>
                <a:ea typeface="Helvetica World Bold"/>
                <a:cs typeface="Helvetica World Bold"/>
                <a:sym typeface="Helvetica World Bold"/>
              </a:rPr>
              <a:t>“Our S</a:t>
            </a:r>
            <a:r>
              <a:rPr lang="en-US" b="true" sz="4300">
                <a:solidFill>
                  <a:srgbClr val="FFFFFF"/>
                </a:solidFill>
                <a:latin typeface="Helvetica World Bold"/>
                <a:ea typeface="Helvetica World Bold"/>
                <a:cs typeface="Helvetica World Bold"/>
                <a:sym typeface="Helvetica World Bold"/>
              </a:rPr>
              <a:t>olution:  MediBond — Verifying Medicines with Blockchain”</a:t>
            </a:r>
          </a:p>
          <a:p>
            <a:pPr algn="ctr">
              <a:lnSpc>
                <a:spcPts val="5040"/>
              </a:lnSpc>
              <a:spcBef>
                <a:spcPct val="0"/>
              </a:spcBef>
            </a:pPr>
          </a:p>
        </p:txBody>
      </p:sp>
      <p:sp>
        <p:nvSpPr>
          <p:cNvPr name="TextBox 12" id="12"/>
          <p:cNvSpPr txBox="true"/>
          <p:nvPr/>
        </p:nvSpPr>
        <p:spPr>
          <a:xfrm rot="0">
            <a:off x="1478608" y="5220716"/>
            <a:ext cx="4243812" cy="2322717"/>
          </a:xfrm>
          <a:prstGeom prst="rect">
            <a:avLst/>
          </a:prstGeom>
        </p:spPr>
        <p:txBody>
          <a:bodyPr anchor="t" rtlCol="false" tIns="0" lIns="0" bIns="0" rIns="0">
            <a:spAutoFit/>
          </a:bodyPr>
          <a:lstStyle/>
          <a:p>
            <a:pPr algn="ctr">
              <a:lnSpc>
                <a:spcPts val="8581"/>
              </a:lnSpc>
            </a:pPr>
            <a:r>
              <a:rPr lang="en-US" sz="6129" b="true">
                <a:solidFill>
                  <a:srgbClr val="FFFFFF"/>
                </a:solidFill>
                <a:latin typeface="Helvetica World Bold"/>
                <a:ea typeface="Helvetica World Bold"/>
                <a:cs typeface="Helvetica World Bold"/>
                <a:sym typeface="Helvetica World Bold"/>
              </a:rPr>
              <a:t>We follow</a:t>
            </a:r>
          </a:p>
          <a:p>
            <a:pPr algn="ctr">
              <a:lnSpc>
                <a:spcPts val="8581"/>
              </a:lnSpc>
              <a:spcBef>
                <a:spcPct val="0"/>
              </a:spcBef>
            </a:pPr>
            <a:r>
              <a:rPr lang="en-US" b="true" sz="6129">
                <a:solidFill>
                  <a:srgbClr val="FFFFFF"/>
                </a:solidFill>
                <a:latin typeface="Helvetica World Bold"/>
                <a:ea typeface="Helvetica World Bold"/>
                <a:cs typeface="Helvetica World Bold"/>
                <a:sym typeface="Helvetica World Bold"/>
              </a:rPr>
              <a:t>5 UN SDG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649923" y="1028700"/>
            <a:ext cx="757555" cy="189389"/>
          </a:xfrm>
          <a:custGeom>
            <a:avLst/>
            <a:gdLst/>
            <a:ahLst/>
            <a:cxnLst/>
            <a:rect r="r" b="b" t="t" l="l"/>
            <a:pathLst>
              <a:path h="189389" w="757555">
                <a:moveTo>
                  <a:pt x="0" y="0"/>
                </a:moveTo>
                <a:lnTo>
                  <a:pt x="757554" y="0"/>
                </a:lnTo>
                <a:lnTo>
                  <a:pt x="757554" y="189389"/>
                </a:lnTo>
                <a:lnTo>
                  <a:pt x="0" y="1893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507030" y="3446537"/>
            <a:ext cx="3313593" cy="5586515"/>
            <a:chOff x="0" y="0"/>
            <a:chExt cx="4418124" cy="7448687"/>
          </a:xfrm>
        </p:grpSpPr>
        <p:sp>
          <p:nvSpPr>
            <p:cNvPr name="Freeform 4" id="4"/>
            <p:cNvSpPr/>
            <p:nvPr/>
          </p:nvSpPr>
          <p:spPr>
            <a:xfrm flipH="false" flipV="false" rot="0">
              <a:off x="0" y="0"/>
              <a:ext cx="4418124" cy="4418124"/>
            </a:xfrm>
            <a:custGeom>
              <a:avLst/>
              <a:gdLst/>
              <a:ahLst/>
              <a:cxnLst/>
              <a:rect r="r" b="b" t="t" l="l"/>
              <a:pathLst>
                <a:path h="4418124" w="4418124">
                  <a:moveTo>
                    <a:pt x="0" y="0"/>
                  </a:moveTo>
                  <a:lnTo>
                    <a:pt x="4418124" y="0"/>
                  </a:lnTo>
                  <a:lnTo>
                    <a:pt x="4418124" y="4418124"/>
                  </a:lnTo>
                  <a:lnTo>
                    <a:pt x="0" y="4418124"/>
                  </a:lnTo>
                  <a:lnTo>
                    <a:pt x="0" y="0"/>
                  </a:lnTo>
                  <a:close/>
                </a:path>
              </a:pathLst>
            </a:custGeom>
            <a:blipFill>
              <a:blip r:embed="rId4"/>
              <a:stretch>
                <a:fillRect l="0" t="0" r="0" b="0"/>
              </a:stretch>
            </a:blipFill>
          </p:spPr>
        </p:sp>
        <p:sp>
          <p:nvSpPr>
            <p:cNvPr name="TextBox 5" id="5"/>
            <p:cNvSpPr txBox="true"/>
            <p:nvPr/>
          </p:nvSpPr>
          <p:spPr>
            <a:xfrm rot="0">
              <a:off x="1154962" y="4605138"/>
              <a:ext cx="2360998" cy="973667"/>
            </a:xfrm>
            <a:prstGeom prst="rect">
              <a:avLst/>
            </a:prstGeom>
          </p:spPr>
          <p:txBody>
            <a:bodyPr anchor="t" rtlCol="false" tIns="0" lIns="0" bIns="0" rIns="0">
              <a:spAutoFit/>
            </a:bodyPr>
            <a:lstStyle/>
            <a:p>
              <a:pPr algn="ctr">
                <a:lnSpc>
                  <a:spcPts val="5739"/>
                </a:lnSpc>
                <a:spcBef>
                  <a:spcPct val="0"/>
                </a:spcBef>
              </a:pPr>
              <a:r>
                <a:rPr lang="en-US" b="true" sz="4099">
                  <a:solidFill>
                    <a:srgbClr val="FFFFFF"/>
                  </a:solidFill>
                  <a:latin typeface="Helvetica World Bold"/>
                  <a:ea typeface="Helvetica World Bold"/>
                  <a:cs typeface="Helvetica World Bold"/>
                  <a:sym typeface="Helvetica World Bold"/>
                </a:rPr>
                <a:t>Market </a:t>
              </a:r>
            </a:p>
          </p:txBody>
        </p:sp>
        <p:sp>
          <p:nvSpPr>
            <p:cNvPr name="TextBox 6" id="6"/>
            <p:cNvSpPr txBox="true"/>
            <p:nvPr/>
          </p:nvSpPr>
          <p:spPr>
            <a:xfrm rot="0">
              <a:off x="641326" y="6195607"/>
              <a:ext cx="3776798" cy="1253080"/>
            </a:xfrm>
            <a:prstGeom prst="rect">
              <a:avLst/>
            </a:prstGeom>
          </p:spPr>
          <p:txBody>
            <a:bodyPr anchor="t" rtlCol="false" tIns="0" lIns="0" bIns="0" rIns="0">
              <a:spAutoFit/>
            </a:bodyPr>
            <a:lstStyle/>
            <a:p>
              <a:pPr algn="ctr">
                <a:lnSpc>
                  <a:spcPts val="3541"/>
                </a:lnSpc>
              </a:pPr>
              <a:r>
                <a:rPr lang="en-US" sz="2529" b="true">
                  <a:solidFill>
                    <a:srgbClr val="FFFFFF"/>
                  </a:solidFill>
                  <a:latin typeface="Helvetica World Bold"/>
                  <a:ea typeface="Helvetica World Bold"/>
                  <a:cs typeface="Helvetica World Bold"/>
                  <a:sym typeface="Helvetica World Bold"/>
                </a:rPr>
                <a:t>1.6 Trillion Dollars </a:t>
              </a:r>
            </a:p>
            <a:p>
              <a:pPr algn="ctr">
                <a:lnSpc>
                  <a:spcPts val="3541"/>
                </a:lnSpc>
                <a:spcBef>
                  <a:spcPct val="0"/>
                </a:spcBef>
              </a:pPr>
              <a:r>
                <a:rPr lang="en-US" b="true" sz="2529">
                  <a:solidFill>
                    <a:srgbClr val="FFFFFF"/>
                  </a:solidFill>
                  <a:latin typeface="Helvetica World Bold"/>
                  <a:ea typeface="Helvetica World Bold"/>
                  <a:cs typeface="Helvetica World Bold"/>
                  <a:sym typeface="Helvetica World Bold"/>
                </a:rPr>
                <a:t>in Revenue </a:t>
              </a:r>
            </a:p>
          </p:txBody>
        </p:sp>
      </p:grpSp>
      <p:sp>
        <p:nvSpPr>
          <p:cNvPr name="Freeform 7" id="7"/>
          <p:cNvSpPr/>
          <p:nvPr/>
        </p:nvSpPr>
        <p:spPr>
          <a:xfrm flipH="false" flipV="false" rot="0">
            <a:off x="10940062" y="3446537"/>
            <a:ext cx="6572696" cy="3697141"/>
          </a:xfrm>
          <a:custGeom>
            <a:avLst/>
            <a:gdLst/>
            <a:ahLst/>
            <a:cxnLst/>
            <a:rect r="r" b="b" t="t" l="l"/>
            <a:pathLst>
              <a:path h="3697141" w="6572696">
                <a:moveTo>
                  <a:pt x="0" y="0"/>
                </a:moveTo>
                <a:lnTo>
                  <a:pt x="6572695" y="0"/>
                </a:lnTo>
                <a:lnTo>
                  <a:pt x="6572695" y="3697142"/>
                </a:lnTo>
                <a:lnTo>
                  <a:pt x="0" y="3697142"/>
                </a:lnTo>
                <a:lnTo>
                  <a:pt x="0" y="0"/>
                </a:lnTo>
                <a:close/>
              </a:path>
            </a:pathLst>
          </a:custGeom>
          <a:blipFill>
            <a:blip r:embed="rId5"/>
            <a:stretch>
              <a:fillRect l="0" t="0" r="0" b="0"/>
            </a:stretch>
          </a:blipFill>
        </p:spPr>
      </p:sp>
      <p:sp>
        <p:nvSpPr>
          <p:cNvPr name="TextBox 8" id="8"/>
          <p:cNvSpPr txBox="true"/>
          <p:nvPr/>
        </p:nvSpPr>
        <p:spPr>
          <a:xfrm rot="0">
            <a:off x="468819" y="1519910"/>
            <a:ext cx="17994041" cy="1024909"/>
          </a:xfrm>
          <a:prstGeom prst="rect">
            <a:avLst/>
          </a:prstGeom>
        </p:spPr>
        <p:txBody>
          <a:bodyPr anchor="t" rtlCol="false" tIns="0" lIns="0" bIns="0" rIns="0">
            <a:spAutoFit/>
          </a:bodyPr>
          <a:lstStyle/>
          <a:p>
            <a:pPr algn="l">
              <a:lnSpc>
                <a:spcPts val="7680"/>
              </a:lnSpc>
            </a:pPr>
            <a:r>
              <a:rPr lang="en-US" sz="8000">
                <a:solidFill>
                  <a:srgbClr val="FFFFFF"/>
                </a:solidFill>
                <a:latin typeface="Anton"/>
                <a:ea typeface="Anton"/>
                <a:cs typeface="Anton"/>
                <a:sym typeface="Anton"/>
              </a:rPr>
              <a:t>WE MOVE GLOBALLY WITH ENDLESS LIMIT</a:t>
            </a:r>
          </a:p>
        </p:txBody>
      </p:sp>
      <p:sp>
        <p:nvSpPr>
          <p:cNvPr name="TextBox 9" id="9"/>
          <p:cNvSpPr txBox="true"/>
          <p:nvPr/>
        </p:nvSpPr>
        <p:spPr>
          <a:xfrm rot="0">
            <a:off x="10940062" y="7615213"/>
            <a:ext cx="6840400" cy="1417840"/>
          </a:xfrm>
          <a:prstGeom prst="rect">
            <a:avLst/>
          </a:prstGeom>
        </p:spPr>
        <p:txBody>
          <a:bodyPr anchor="t" rtlCol="false" tIns="0" lIns="0" bIns="0" rIns="0">
            <a:spAutoFit/>
          </a:bodyPr>
          <a:lstStyle/>
          <a:p>
            <a:pPr algn="ctr">
              <a:lnSpc>
                <a:spcPts val="3541"/>
              </a:lnSpc>
              <a:spcBef>
                <a:spcPct val="0"/>
              </a:spcBef>
            </a:pPr>
            <a:r>
              <a:rPr lang="en-US" b="true" sz="2529">
                <a:solidFill>
                  <a:srgbClr val="FFFFFF"/>
                </a:solidFill>
                <a:latin typeface="Helvetica World Bold"/>
                <a:ea typeface="Helvetica World Bold"/>
                <a:cs typeface="Helvetica World Bold"/>
                <a:sym typeface="Helvetica World Bold"/>
              </a:rPr>
              <a:t>DIAMANTE will enable us to enter the vast pharmaceutical industry and drive significant growth.   </a:t>
            </a:r>
          </a:p>
        </p:txBody>
      </p:sp>
      <p:grpSp>
        <p:nvGrpSpPr>
          <p:cNvPr name="Group 10" id="10"/>
          <p:cNvGrpSpPr/>
          <p:nvPr/>
        </p:nvGrpSpPr>
        <p:grpSpPr>
          <a:xfrm rot="0">
            <a:off x="649923" y="3598145"/>
            <a:ext cx="5398835" cy="5882571"/>
            <a:chOff x="0" y="0"/>
            <a:chExt cx="7198446" cy="7843427"/>
          </a:xfrm>
        </p:grpSpPr>
        <p:sp>
          <p:nvSpPr>
            <p:cNvPr name="Freeform 11" id="11"/>
            <p:cNvSpPr/>
            <p:nvPr/>
          </p:nvSpPr>
          <p:spPr>
            <a:xfrm flipH="false" flipV="false" rot="0">
              <a:off x="1563146" y="0"/>
              <a:ext cx="3881258" cy="4525234"/>
            </a:xfrm>
            <a:custGeom>
              <a:avLst/>
              <a:gdLst/>
              <a:ahLst/>
              <a:cxnLst/>
              <a:rect r="r" b="b" t="t" l="l"/>
              <a:pathLst>
                <a:path h="4525234" w="3881258">
                  <a:moveTo>
                    <a:pt x="0" y="0"/>
                  </a:moveTo>
                  <a:lnTo>
                    <a:pt x="3881258" y="0"/>
                  </a:lnTo>
                  <a:lnTo>
                    <a:pt x="3881258" y="4525234"/>
                  </a:lnTo>
                  <a:lnTo>
                    <a:pt x="0" y="4525234"/>
                  </a:lnTo>
                  <a:lnTo>
                    <a:pt x="0" y="0"/>
                  </a:lnTo>
                  <a:close/>
                </a:path>
              </a:pathLst>
            </a:custGeom>
            <a:blipFill>
              <a:blip r:embed="rId6"/>
              <a:stretch>
                <a:fillRect l="0" t="0" r="0" b="0"/>
              </a:stretch>
            </a:blipFill>
          </p:spPr>
        </p:sp>
        <p:sp>
          <p:nvSpPr>
            <p:cNvPr name="TextBox 12" id="12"/>
            <p:cNvSpPr txBox="true"/>
            <p:nvPr/>
          </p:nvSpPr>
          <p:spPr>
            <a:xfrm rot="0">
              <a:off x="0" y="5371965"/>
              <a:ext cx="7198446" cy="2471462"/>
            </a:xfrm>
            <a:prstGeom prst="rect">
              <a:avLst/>
            </a:prstGeom>
          </p:spPr>
          <p:txBody>
            <a:bodyPr anchor="t" rtlCol="false" tIns="0" lIns="0" bIns="0" rIns="0">
              <a:spAutoFit/>
            </a:bodyPr>
            <a:lstStyle/>
            <a:p>
              <a:pPr algn="ctr">
                <a:lnSpc>
                  <a:spcPts val="3541"/>
                </a:lnSpc>
              </a:pPr>
              <a:r>
                <a:rPr lang="en-US" sz="2529" b="true">
                  <a:solidFill>
                    <a:srgbClr val="FFFFFF"/>
                  </a:solidFill>
                  <a:latin typeface="Helvetica World Bold"/>
                  <a:ea typeface="Helvetica World Bold"/>
                  <a:cs typeface="Helvetica World Bold"/>
                  <a:sym typeface="Helvetica World Bold"/>
                </a:rPr>
                <a:t>Our target is endless </a:t>
              </a:r>
            </a:p>
            <a:p>
              <a:pPr algn="ctr">
                <a:lnSpc>
                  <a:spcPts val="3541"/>
                </a:lnSpc>
              </a:pPr>
              <a:r>
                <a:rPr lang="en-US" sz="2529" b="true">
                  <a:solidFill>
                    <a:srgbClr val="FFFFFF"/>
                  </a:solidFill>
                  <a:latin typeface="Helvetica World Bold"/>
                  <a:ea typeface="Helvetica World Bold"/>
                  <a:cs typeface="Helvetica World Bold"/>
                  <a:sym typeface="Helvetica World Bold"/>
                </a:rPr>
                <a:t>It includes all people of all</a:t>
              </a:r>
            </a:p>
            <a:p>
              <a:pPr algn="ctr">
                <a:lnSpc>
                  <a:spcPts val="3541"/>
                </a:lnSpc>
              </a:pPr>
              <a:r>
                <a:rPr lang="en-US" sz="2529" b="true">
                  <a:solidFill>
                    <a:srgbClr val="FFFFFF"/>
                  </a:solidFill>
                  <a:latin typeface="Helvetica World Bold"/>
                  <a:ea typeface="Helvetica World Bold"/>
                  <a:cs typeface="Helvetica World Bold"/>
                  <a:sym typeface="Helvetica World Bold"/>
                </a:rPr>
                <a:t>age groups and countries </a:t>
              </a:r>
            </a:p>
            <a:p>
              <a:pPr algn="ctr">
                <a:lnSpc>
                  <a:spcPts val="3541"/>
                </a:lnSpc>
                <a:spcBef>
                  <a:spcPct val="0"/>
                </a:spcBef>
              </a:pPr>
            </a:p>
          </p:txBody>
        </p:sp>
        <p:sp>
          <p:nvSpPr>
            <p:cNvPr name="TextBox 13" id="13"/>
            <p:cNvSpPr txBox="true"/>
            <p:nvPr/>
          </p:nvSpPr>
          <p:spPr>
            <a:xfrm rot="0">
              <a:off x="1563146" y="4208052"/>
              <a:ext cx="3403332" cy="962451"/>
            </a:xfrm>
            <a:prstGeom prst="rect">
              <a:avLst/>
            </a:prstGeom>
          </p:spPr>
          <p:txBody>
            <a:bodyPr anchor="t" rtlCol="false" tIns="0" lIns="0" bIns="0" rIns="0">
              <a:spAutoFit/>
            </a:bodyPr>
            <a:lstStyle/>
            <a:p>
              <a:pPr algn="ctr">
                <a:lnSpc>
                  <a:spcPts val="5573"/>
                </a:lnSpc>
                <a:spcBef>
                  <a:spcPct val="0"/>
                </a:spcBef>
              </a:pPr>
              <a:r>
                <a:rPr lang="en-US" b="true" sz="3981">
                  <a:solidFill>
                    <a:srgbClr val="FFFFFF"/>
                  </a:solidFill>
                  <a:latin typeface="Helvetica World Bold"/>
                  <a:ea typeface="Helvetica World Bold"/>
                  <a:cs typeface="Helvetica World Bold"/>
                  <a:sym typeface="Helvetica World Bold"/>
                </a:rPr>
                <a:t>Target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16501745" y="1140021"/>
            <a:ext cx="757555" cy="189389"/>
          </a:xfrm>
          <a:custGeom>
            <a:avLst/>
            <a:gdLst/>
            <a:ahLst/>
            <a:cxnLst/>
            <a:rect r="r" b="b" t="t" l="l"/>
            <a:pathLst>
              <a:path h="189389" w="757555">
                <a:moveTo>
                  <a:pt x="0" y="0"/>
                </a:moveTo>
                <a:lnTo>
                  <a:pt x="757555" y="0"/>
                </a:lnTo>
                <a:lnTo>
                  <a:pt x="757555" y="189389"/>
                </a:lnTo>
                <a:lnTo>
                  <a:pt x="0" y="1893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49923" y="839311"/>
            <a:ext cx="757555" cy="189389"/>
          </a:xfrm>
          <a:custGeom>
            <a:avLst/>
            <a:gdLst/>
            <a:ahLst/>
            <a:cxnLst/>
            <a:rect r="r" b="b" t="t" l="l"/>
            <a:pathLst>
              <a:path h="189389" w="757555">
                <a:moveTo>
                  <a:pt x="0" y="0"/>
                </a:moveTo>
                <a:lnTo>
                  <a:pt x="757554" y="0"/>
                </a:lnTo>
                <a:lnTo>
                  <a:pt x="757554" y="189389"/>
                </a:lnTo>
                <a:lnTo>
                  <a:pt x="0" y="1893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52753" y="1228725"/>
            <a:ext cx="12093068" cy="2201798"/>
          </a:xfrm>
          <a:prstGeom prst="rect">
            <a:avLst/>
          </a:prstGeom>
        </p:spPr>
        <p:txBody>
          <a:bodyPr anchor="t" rtlCol="false" tIns="0" lIns="0" bIns="0" rIns="0">
            <a:spAutoFit/>
          </a:bodyPr>
          <a:lstStyle/>
          <a:p>
            <a:pPr algn="l">
              <a:lnSpc>
                <a:spcPts val="8447"/>
              </a:lnSpc>
            </a:pPr>
            <a:r>
              <a:rPr lang="en-US" sz="8799">
                <a:solidFill>
                  <a:srgbClr val="FFFFFF"/>
                </a:solidFill>
                <a:latin typeface="Anton"/>
                <a:ea typeface="Anton"/>
                <a:cs typeface="Anton"/>
                <a:sym typeface="Anton"/>
              </a:rPr>
              <a:t>OUR BUSINESS MODEL</a:t>
            </a:r>
          </a:p>
          <a:p>
            <a:pPr algn="l">
              <a:lnSpc>
                <a:spcPts val="8447"/>
              </a:lnSpc>
            </a:pPr>
            <a:r>
              <a:rPr lang="en-US" sz="8799">
                <a:solidFill>
                  <a:srgbClr val="FFFFFF"/>
                </a:solidFill>
                <a:latin typeface="Anton"/>
                <a:ea typeface="Anton"/>
                <a:cs typeface="Anton"/>
                <a:sym typeface="Anton"/>
              </a:rPr>
              <a:t>USING DIAMANTE SERVICES</a:t>
            </a:r>
          </a:p>
        </p:txBody>
      </p:sp>
      <p:sp>
        <p:nvSpPr>
          <p:cNvPr name="Freeform 5" id="5"/>
          <p:cNvSpPr/>
          <p:nvPr/>
        </p:nvSpPr>
        <p:spPr>
          <a:xfrm flipH="true" flipV="false" rot="0">
            <a:off x="6852492" y="-2684390"/>
            <a:ext cx="6269276" cy="5368780"/>
          </a:xfrm>
          <a:custGeom>
            <a:avLst/>
            <a:gdLst/>
            <a:ahLst/>
            <a:cxnLst/>
            <a:rect r="r" b="b" t="t" l="l"/>
            <a:pathLst>
              <a:path h="5368780" w="6269276">
                <a:moveTo>
                  <a:pt x="6269276" y="0"/>
                </a:moveTo>
                <a:lnTo>
                  <a:pt x="0" y="0"/>
                </a:lnTo>
                <a:lnTo>
                  <a:pt x="0" y="5368780"/>
                </a:lnTo>
                <a:lnTo>
                  <a:pt x="6269276" y="5368780"/>
                </a:lnTo>
                <a:lnTo>
                  <a:pt x="6269276" y="0"/>
                </a:lnTo>
                <a:close/>
              </a:path>
            </a:pathLst>
          </a:custGeom>
          <a:blipFill>
            <a:blip r:embed="rId4">
              <a:alphaModFix amt="42000"/>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1592012" y="1625678"/>
            <a:ext cx="6431085" cy="3929884"/>
            <a:chOff x="0" y="0"/>
            <a:chExt cx="8574780" cy="5239845"/>
          </a:xfrm>
        </p:grpSpPr>
        <p:grpSp>
          <p:nvGrpSpPr>
            <p:cNvPr name="Group 7" id="7"/>
            <p:cNvGrpSpPr/>
            <p:nvPr/>
          </p:nvGrpSpPr>
          <p:grpSpPr>
            <a:xfrm rot="0">
              <a:off x="0" y="0"/>
              <a:ext cx="8574780" cy="5239845"/>
              <a:chOff x="0" y="0"/>
              <a:chExt cx="1964766" cy="1200622"/>
            </a:xfrm>
          </p:grpSpPr>
          <p:sp>
            <p:nvSpPr>
              <p:cNvPr name="Freeform 8" id="8"/>
              <p:cNvSpPr/>
              <p:nvPr/>
            </p:nvSpPr>
            <p:spPr>
              <a:xfrm flipH="false" flipV="false" rot="0">
                <a:off x="0" y="0"/>
                <a:ext cx="1964766" cy="1200622"/>
              </a:xfrm>
              <a:custGeom>
                <a:avLst/>
                <a:gdLst/>
                <a:ahLst/>
                <a:cxnLst/>
                <a:rect r="r" b="b" t="t" l="l"/>
                <a:pathLst>
                  <a:path h="1200622" w="1964766">
                    <a:moveTo>
                      <a:pt x="103779" y="0"/>
                    </a:moveTo>
                    <a:lnTo>
                      <a:pt x="1860987" y="0"/>
                    </a:lnTo>
                    <a:cubicBezTo>
                      <a:pt x="1918302" y="0"/>
                      <a:pt x="1964766" y="46464"/>
                      <a:pt x="1964766" y="103779"/>
                    </a:cubicBezTo>
                    <a:lnTo>
                      <a:pt x="1964766" y="1096843"/>
                    </a:lnTo>
                    <a:cubicBezTo>
                      <a:pt x="1964766" y="1124367"/>
                      <a:pt x="1953832" y="1150763"/>
                      <a:pt x="1934370" y="1170226"/>
                    </a:cubicBezTo>
                    <a:cubicBezTo>
                      <a:pt x="1914907" y="1189688"/>
                      <a:pt x="1888511" y="1200622"/>
                      <a:pt x="1860987" y="1200622"/>
                    </a:cubicBezTo>
                    <a:lnTo>
                      <a:pt x="103779" y="1200622"/>
                    </a:lnTo>
                    <a:cubicBezTo>
                      <a:pt x="46464" y="1200622"/>
                      <a:pt x="0" y="1154159"/>
                      <a:pt x="0" y="1096843"/>
                    </a:cubicBezTo>
                    <a:lnTo>
                      <a:pt x="0" y="103779"/>
                    </a:lnTo>
                    <a:cubicBezTo>
                      <a:pt x="0" y="46464"/>
                      <a:pt x="46464" y="0"/>
                      <a:pt x="103779" y="0"/>
                    </a:cubicBezTo>
                    <a:close/>
                  </a:path>
                </a:pathLst>
              </a:custGeom>
              <a:solidFill>
                <a:srgbClr val="627B9A"/>
              </a:solidFill>
            </p:spPr>
          </p:sp>
          <p:sp>
            <p:nvSpPr>
              <p:cNvPr name="TextBox 9" id="9"/>
              <p:cNvSpPr txBox="true"/>
              <p:nvPr/>
            </p:nvSpPr>
            <p:spPr>
              <a:xfrm>
                <a:off x="0" y="-47625"/>
                <a:ext cx="1964766" cy="1248247"/>
              </a:xfrm>
              <a:prstGeom prst="rect">
                <a:avLst/>
              </a:prstGeom>
            </p:spPr>
            <p:txBody>
              <a:bodyPr anchor="ctr" rtlCol="false" tIns="50800" lIns="50800" bIns="50800" rIns="50800"/>
              <a:lstStyle/>
              <a:p>
                <a:pPr algn="ctr">
                  <a:lnSpc>
                    <a:spcPts val="3541"/>
                  </a:lnSpc>
                </a:pPr>
              </a:p>
            </p:txBody>
          </p:sp>
        </p:grpSp>
        <p:sp>
          <p:nvSpPr>
            <p:cNvPr name="TextBox 10" id="10"/>
            <p:cNvSpPr txBox="true"/>
            <p:nvPr/>
          </p:nvSpPr>
          <p:spPr>
            <a:xfrm rot="0">
              <a:off x="265517" y="440063"/>
              <a:ext cx="8031683" cy="1054396"/>
            </a:xfrm>
            <a:prstGeom prst="rect">
              <a:avLst/>
            </a:prstGeom>
          </p:spPr>
          <p:txBody>
            <a:bodyPr anchor="t" rtlCol="false" tIns="0" lIns="0" bIns="0" rIns="0">
              <a:spAutoFit/>
            </a:bodyPr>
            <a:lstStyle/>
            <a:p>
              <a:pPr algn="ctr">
                <a:lnSpc>
                  <a:spcPts val="6681"/>
                </a:lnSpc>
                <a:spcBef>
                  <a:spcPct val="0"/>
                </a:spcBef>
              </a:pPr>
              <a:r>
                <a:rPr lang="en-US" sz="4772">
                  <a:solidFill>
                    <a:srgbClr val="FFFFFF"/>
                  </a:solidFill>
                  <a:latin typeface="Anton"/>
                  <a:ea typeface="Anton"/>
                  <a:cs typeface="Anton"/>
                  <a:sym typeface="Anton"/>
                </a:rPr>
                <a:t>VENDOR COMISSIONS</a:t>
              </a:r>
            </a:p>
          </p:txBody>
        </p:sp>
        <p:sp>
          <p:nvSpPr>
            <p:cNvPr name="TextBox 11" id="11"/>
            <p:cNvSpPr txBox="true"/>
            <p:nvPr/>
          </p:nvSpPr>
          <p:spPr>
            <a:xfrm rot="0">
              <a:off x="836559" y="1545552"/>
              <a:ext cx="6901661" cy="3275287"/>
            </a:xfrm>
            <a:prstGeom prst="rect">
              <a:avLst/>
            </a:prstGeom>
          </p:spPr>
          <p:txBody>
            <a:bodyPr anchor="t" rtlCol="false" tIns="0" lIns="0" bIns="0" rIns="0">
              <a:spAutoFit/>
            </a:bodyPr>
            <a:lstStyle/>
            <a:p>
              <a:pPr algn="ctr">
                <a:lnSpc>
                  <a:spcPts val="4948"/>
                </a:lnSpc>
                <a:spcBef>
                  <a:spcPct val="0"/>
                </a:spcBef>
              </a:pPr>
              <a:r>
                <a:rPr lang="en-US" sz="3534">
                  <a:solidFill>
                    <a:srgbClr val="FFFFFF"/>
                  </a:solidFill>
                  <a:latin typeface="Helvetica World"/>
                  <a:ea typeface="Helvetica World"/>
                  <a:cs typeface="Helvetica World"/>
                  <a:sym typeface="Helvetica World"/>
                </a:rPr>
                <a:t>we charge companies and authorised reseller for listing themselves on our Diamante powered store</a:t>
              </a:r>
            </a:p>
          </p:txBody>
        </p:sp>
      </p:grpSp>
      <p:grpSp>
        <p:nvGrpSpPr>
          <p:cNvPr name="Group 12" id="12"/>
          <p:cNvGrpSpPr/>
          <p:nvPr/>
        </p:nvGrpSpPr>
        <p:grpSpPr>
          <a:xfrm rot="0">
            <a:off x="1028700" y="4428057"/>
            <a:ext cx="6870299" cy="5087658"/>
            <a:chOff x="0" y="0"/>
            <a:chExt cx="9160399" cy="6783543"/>
          </a:xfrm>
        </p:grpSpPr>
        <p:grpSp>
          <p:nvGrpSpPr>
            <p:cNvPr name="Group 13" id="13"/>
            <p:cNvGrpSpPr/>
            <p:nvPr/>
          </p:nvGrpSpPr>
          <p:grpSpPr>
            <a:xfrm rot="0">
              <a:off x="0" y="0"/>
              <a:ext cx="9160399" cy="6783543"/>
              <a:chOff x="0" y="0"/>
              <a:chExt cx="1809461" cy="1339959"/>
            </a:xfrm>
          </p:grpSpPr>
          <p:sp>
            <p:nvSpPr>
              <p:cNvPr name="Freeform 14" id="14"/>
              <p:cNvSpPr/>
              <p:nvPr/>
            </p:nvSpPr>
            <p:spPr>
              <a:xfrm flipH="false" flipV="false" rot="0">
                <a:off x="0" y="0"/>
                <a:ext cx="1809461" cy="1339959"/>
              </a:xfrm>
              <a:custGeom>
                <a:avLst/>
                <a:gdLst/>
                <a:ahLst/>
                <a:cxnLst/>
                <a:rect r="r" b="b" t="t" l="l"/>
                <a:pathLst>
                  <a:path h="1339959" w="1809461">
                    <a:moveTo>
                      <a:pt x="112687" y="0"/>
                    </a:moveTo>
                    <a:lnTo>
                      <a:pt x="1696775" y="0"/>
                    </a:lnTo>
                    <a:cubicBezTo>
                      <a:pt x="1759010" y="0"/>
                      <a:pt x="1809461" y="50452"/>
                      <a:pt x="1809461" y="112687"/>
                    </a:cubicBezTo>
                    <a:lnTo>
                      <a:pt x="1809461" y="1227272"/>
                    </a:lnTo>
                    <a:cubicBezTo>
                      <a:pt x="1809461" y="1257159"/>
                      <a:pt x="1797589" y="1285821"/>
                      <a:pt x="1776456" y="1306954"/>
                    </a:cubicBezTo>
                    <a:cubicBezTo>
                      <a:pt x="1755323" y="1328087"/>
                      <a:pt x="1726661" y="1339959"/>
                      <a:pt x="1696775" y="1339959"/>
                    </a:cubicBezTo>
                    <a:lnTo>
                      <a:pt x="112687" y="1339959"/>
                    </a:lnTo>
                    <a:cubicBezTo>
                      <a:pt x="50452" y="1339959"/>
                      <a:pt x="0" y="1289508"/>
                      <a:pt x="0" y="1227272"/>
                    </a:cubicBezTo>
                    <a:lnTo>
                      <a:pt x="0" y="112687"/>
                    </a:lnTo>
                    <a:cubicBezTo>
                      <a:pt x="0" y="50452"/>
                      <a:pt x="50452" y="0"/>
                      <a:pt x="112687" y="0"/>
                    </a:cubicBezTo>
                    <a:close/>
                  </a:path>
                </a:pathLst>
              </a:custGeom>
              <a:solidFill>
                <a:srgbClr val="627B9A"/>
              </a:solidFill>
            </p:spPr>
          </p:sp>
          <p:sp>
            <p:nvSpPr>
              <p:cNvPr name="TextBox 15" id="15"/>
              <p:cNvSpPr txBox="true"/>
              <p:nvPr/>
            </p:nvSpPr>
            <p:spPr>
              <a:xfrm>
                <a:off x="0" y="-47625"/>
                <a:ext cx="1809461" cy="1387584"/>
              </a:xfrm>
              <a:prstGeom prst="rect">
                <a:avLst/>
              </a:prstGeom>
            </p:spPr>
            <p:txBody>
              <a:bodyPr anchor="ctr" rtlCol="false" tIns="50800" lIns="50800" bIns="50800" rIns="50800"/>
              <a:lstStyle/>
              <a:p>
                <a:pPr algn="ctr">
                  <a:lnSpc>
                    <a:spcPts val="3541"/>
                  </a:lnSpc>
                </a:pPr>
              </a:p>
            </p:txBody>
          </p:sp>
        </p:grpSp>
        <p:sp>
          <p:nvSpPr>
            <p:cNvPr name="TextBox 16" id="16"/>
            <p:cNvSpPr txBox="true"/>
            <p:nvPr/>
          </p:nvSpPr>
          <p:spPr>
            <a:xfrm rot="0">
              <a:off x="20973" y="168252"/>
              <a:ext cx="9139426" cy="1752027"/>
            </a:xfrm>
            <a:prstGeom prst="rect">
              <a:avLst/>
            </a:prstGeom>
          </p:spPr>
          <p:txBody>
            <a:bodyPr anchor="t" rtlCol="false" tIns="0" lIns="0" bIns="0" rIns="0">
              <a:spAutoFit/>
            </a:bodyPr>
            <a:lstStyle/>
            <a:p>
              <a:pPr algn="ctr">
                <a:lnSpc>
                  <a:spcPts val="5684"/>
                </a:lnSpc>
              </a:pPr>
              <a:r>
                <a:rPr lang="en-US" sz="4060">
                  <a:solidFill>
                    <a:srgbClr val="FFFFFF"/>
                  </a:solidFill>
                  <a:latin typeface="Anton"/>
                  <a:ea typeface="Anton"/>
                  <a:cs typeface="Anton"/>
                  <a:sym typeface="Anton"/>
                </a:rPr>
                <a:t>Blockchain-as-a-Service </a:t>
              </a:r>
            </a:p>
            <a:p>
              <a:pPr algn="ctr">
                <a:lnSpc>
                  <a:spcPts val="5124"/>
                </a:lnSpc>
                <a:spcBef>
                  <a:spcPct val="0"/>
                </a:spcBef>
              </a:pPr>
              <a:r>
                <a:rPr lang="en-US" sz="3660">
                  <a:solidFill>
                    <a:srgbClr val="FFFFFF"/>
                  </a:solidFill>
                  <a:latin typeface="Anton"/>
                  <a:ea typeface="Anton"/>
                  <a:cs typeface="Anton"/>
                  <a:sym typeface="Anton"/>
                </a:rPr>
                <a:t>(BaaS) for Pharma Companies</a:t>
              </a:r>
            </a:p>
          </p:txBody>
        </p:sp>
        <p:sp>
          <p:nvSpPr>
            <p:cNvPr name="TextBox 17" id="17"/>
            <p:cNvSpPr txBox="true"/>
            <p:nvPr/>
          </p:nvSpPr>
          <p:spPr>
            <a:xfrm rot="0">
              <a:off x="743146" y="2550030"/>
              <a:ext cx="7695079" cy="3798146"/>
            </a:xfrm>
            <a:prstGeom prst="rect">
              <a:avLst/>
            </a:prstGeom>
          </p:spPr>
          <p:txBody>
            <a:bodyPr anchor="t" rtlCol="false" tIns="0" lIns="0" bIns="0" rIns="0">
              <a:spAutoFit/>
            </a:bodyPr>
            <a:lstStyle/>
            <a:p>
              <a:pPr algn="ctr">
                <a:lnSpc>
                  <a:spcPts val="5740"/>
                </a:lnSpc>
                <a:spcBef>
                  <a:spcPct val="0"/>
                </a:spcBef>
              </a:pPr>
              <a:r>
                <a:rPr lang="en-US" sz="4100">
                  <a:solidFill>
                    <a:srgbClr val="FFFFFF"/>
                  </a:solidFill>
                  <a:latin typeface="Helvetica World"/>
                  <a:ea typeface="Helvetica World"/>
                  <a:cs typeface="Helvetica World"/>
                  <a:sym typeface="Helvetica World"/>
                </a:rPr>
                <a:t>Pharma manufacturers pay to register medicine batches on Diamante blockchain</a:t>
              </a:r>
            </a:p>
          </p:txBody>
        </p:sp>
      </p:grpSp>
      <p:grpSp>
        <p:nvGrpSpPr>
          <p:cNvPr name="Group 18" id="18"/>
          <p:cNvGrpSpPr/>
          <p:nvPr/>
        </p:nvGrpSpPr>
        <p:grpSpPr>
          <a:xfrm rot="0">
            <a:off x="9144000" y="6003826"/>
            <a:ext cx="7652694" cy="3511889"/>
            <a:chOff x="0" y="0"/>
            <a:chExt cx="10203593" cy="4682519"/>
          </a:xfrm>
        </p:grpSpPr>
        <p:grpSp>
          <p:nvGrpSpPr>
            <p:cNvPr name="Group 19" id="19"/>
            <p:cNvGrpSpPr/>
            <p:nvPr/>
          </p:nvGrpSpPr>
          <p:grpSpPr>
            <a:xfrm rot="0">
              <a:off x="0" y="0"/>
              <a:ext cx="10117048" cy="4682519"/>
              <a:chOff x="0" y="0"/>
              <a:chExt cx="2448132" cy="1133080"/>
            </a:xfrm>
          </p:grpSpPr>
          <p:sp>
            <p:nvSpPr>
              <p:cNvPr name="Freeform 20" id="20"/>
              <p:cNvSpPr/>
              <p:nvPr/>
            </p:nvSpPr>
            <p:spPr>
              <a:xfrm flipH="false" flipV="false" rot="0">
                <a:off x="0" y="0"/>
                <a:ext cx="2448132" cy="1133080"/>
              </a:xfrm>
              <a:custGeom>
                <a:avLst/>
                <a:gdLst/>
                <a:ahLst/>
                <a:cxnLst/>
                <a:rect r="r" b="b" t="t" l="l"/>
                <a:pathLst>
                  <a:path h="1133080" w="2448132">
                    <a:moveTo>
                      <a:pt x="102031" y="0"/>
                    </a:moveTo>
                    <a:lnTo>
                      <a:pt x="2346101" y="0"/>
                    </a:lnTo>
                    <a:cubicBezTo>
                      <a:pt x="2373161" y="0"/>
                      <a:pt x="2399113" y="10750"/>
                      <a:pt x="2418248" y="29884"/>
                    </a:cubicBezTo>
                    <a:cubicBezTo>
                      <a:pt x="2437382" y="49019"/>
                      <a:pt x="2448132" y="74971"/>
                      <a:pt x="2448132" y="102031"/>
                    </a:cubicBezTo>
                    <a:lnTo>
                      <a:pt x="2448132" y="1031049"/>
                    </a:lnTo>
                    <a:cubicBezTo>
                      <a:pt x="2448132" y="1087399"/>
                      <a:pt x="2402451" y="1133080"/>
                      <a:pt x="2346101" y="1133080"/>
                    </a:cubicBezTo>
                    <a:lnTo>
                      <a:pt x="102031" y="1133080"/>
                    </a:lnTo>
                    <a:cubicBezTo>
                      <a:pt x="45681" y="1133080"/>
                      <a:pt x="0" y="1087399"/>
                      <a:pt x="0" y="1031049"/>
                    </a:cubicBezTo>
                    <a:lnTo>
                      <a:pt x="0" y="102031"/>
                    </a:lnTo>
                    <a:cubicBezTo>
                      <a:pt x="0" y="45681"/>
                      <a:pt x="45681" y="0"/>
                      <a:pt x="102031" y="0"/>
                    </a:cubicBezTo>
                    <a:close/>
                  </a:path>
                </a:pathLst>
              </a:custGeom>
              <a:solidFill>
                <a:srgbClr val="627B9A"/>
              </a:solidFill>
            </p:spPr>
          </p:sp>
          <p:sp>
            <p:nvSpPr>
              <p:cNvPr name="TextBox 21" id="21"/>
              <p:cNvSpPr txBox="true"/>
              <p:nvPr/>
            </p:nvSpPr>
            <p:spPr>
              <a:xfrm>
                <a:off x="0" y="-47625"/>
                <a:ext cx="2448132" cy="1180705"/>
              </a:xfrm>
              <a:prstGeom prst="rect">
                <a:avLst/>
              </a:prstGeom>
            </p:spPr>
            <p:txBody>
              <a:bodyPr anchor="ctr" rtlCol="false" tIns="41468" lIns="41468" bIns="41468" rIns="41468"/>
              <a:lstStyle/>
              <a:p>
                <a:pPr algn="ctr">
                  <a:lnSpc>
                    <a:spcPts val="3541"/>
                  </a:lnSpc>
                </a:pPr>
              </a:p>
            </p:txBody>
          </p:sp>
        </p:grpSp>
        <p:sp>
          <p:nvSpPr>
            <p:cNvPr name="TextBox 22" id="22"/>
            <p:cNvSpPr txBox="true"/>
            <p:nvPr/>
          </p:nvSpPr>
          <p:spPr>
            <a:xfrm rot="0">
              <a:off x="504519" y="555527"/>
              <a:ext cx="9699074" cy="765386"/>
            </a:xfrm>
            <a:prstGeom prst="rect">
              <a:avLst/>
            </a:prstGeom>
          </p:spPr>
          <p:txBody>
            <a:bodyPr anchor="t" rtlCol="false" tIns="0" lIns="0" bIns="0" rIns="0">
              <a:spAutoFit/>
            </a:bodyPr>
            <a:lstStyle/>
            <a:p>
              <a:pPr algn="ctr">
                <a:lnSpc>
                  <a:spcPts val="4479"/>
                </a:lnSpc>
                <a:spcBef>
                  <a:spcPct val="0"/>
                </a:spcBef>
              </a:pPr>
              <a:r>
                <a:rPr lang="en-US" sz="3999">
                  <a:solidFill>
                    <a:srgbClr val="FFFFFF"/>
                  </a:solidFill>
                  <a:latin typeface="Anton"/>
                  <a:ea typeface="Anton"/>
                  <a:cs typeface="Anton"/>
                  <a:sym typeface="Anton"/>
                </a:rPr>
                <a:t>Global API for E-commerce</a:t>
              </a:r>
            </a:p>
          </p:txBody>
        </p:sp>
        <p:sp>
          <p:nvSpPr>
            <p:cNvPr name="TextBox 23" id="23"/>
            <p:cNvSpPr txBox="true"/>
            <p:nvPr/>
          </p:nvSpPr>
          <p:spPr>
            <a:xfrm rot="0">
              <a:off x="1509984" y="1571219"/>
              <a:ext cx="7688143" cy="2816149"/>
            </a:xfrm>
            <a:prstGeom prst="rect">
              <a:avLst/>
            </a:prstGeom>
          </p:spPr>
          <p:txBody>
            <a:bodyPr anchor="t" rtlCol="false" tIns="0" lIns="0" bIns="0" rIns="0">
              <a:spAutoFit/>
            </a:bodyPr>
            <a:lstStyle/>
            <a:p>
              <a:pPr algn="ctr">
                <a:lnSpc>
                  <a:spcPts val="4193"/>
                </a:lnSpc>
                <a:spcBef>
                  <a:spcPct val="0"/>
                </a:spcBef>
              </a:pPr>
              <a:r>
                <a:rPr lang="en-US" sz="3744">
                  <a:solidFill>
                    <a:srgbClr val="FFFFFF"/>
                  </a:solidFill>
                  <a:latin typeface="Helvetica World"/>
                  <a:ea typeface="Helvetica World"/>
                  <a:cs typeface="Helvetica World"/>
                  <a:sym typeface="Helvetica World"/>
                </a:rPr>
                <a:t>Offer an Diamante based API f</a:t>
              </a:r>
              <a:r>
                <a:rPr lang="en-US" sz="3744">
                  <a:solidFill>
                    <a:srgbClr val="FFFFFF"/>
                  </a:solidFill>
                  <a:latin typeface="Helvetica World"/>
                  <a:ea typeface="Helvetica World"/>
                  <a:cs typeface="Helvetica World"/>
                  <a:sym typeface="Helvetica World"/>
                </a:rPr>
                <a:t>or online pharmacies, delivery apps, and telehealth companies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14235339" y="-1524379"/>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77059" y="1266825"/>
            <a:ext cx="11133812" cy="1323596"/>
          </a:xfrm>
          <a:prstGeom prst="rect">
            <a:avLst/>
          </a:prstGeom>
        </p:spPr>
        <p:txBody>
          <a:bodyPr anchor="t" rtlCol="false" tIns="0" lIns="0" bIns="0" rIns="0">
            <a:spAutoFit/>
          </a:bodyPr>
          <a:lstStyle/>
          <a:p>
            <a:pPr algn="l">
              <a:lnSpc>
                <a:spcPts val="9888"/>
              </a:lnSpc>
            </a:pPr>
            <a:r>
              <a:rPr lang="en-US" sz="10300">
                <a:solidFill>
                  <a:srgbClr val="FFFFFF"/>
                </a:solidFill>
                <a:latin typeface="Anton"/>
                <a:ea typeface="Anton"/>
                <a:cs typeface="Anton"/>
                <a:sym typeface="Anton"/>
              </a:rPr>
              <a:t>MARKET STRATEGY</a:t>
            </a:r>
          </a:p>
        </p:txBody>
      </p:sp>
      <p:sp>
        <p:nvSpPr>
          <p:cNvPr name="TextBox 4" id="4"/>
          <p:cNvSpPr txBox="true"/>
          <p:nvPr/>
        </p:nvSpPr>
        <p:spPr>
          <a:xfrm rot="0">
            <a:off x="5259025" y="6385362"/>
            <a:ext cx="7376993" cy="988696"/>
          </a:xfrm>
          <a:prstGeom prst="rect">
            <a:avLst/>
          </a:prstGeom>
        </p:spPr>
        <p:txBody>
          <a:bodyPr anchor="t" rtlCol="false" tIns="0" lIns="0" bIns="0" rIns="0">
            <a:spAutoFit/>
          </a:bodyPr>
          <a:lstStyle/>
          <a:p>
            <a:pPr algn="ctr">
              <a:lnSpc>
                <a:spcPts val="7559"/>
              </a:lnSpc>
              <a:spcBef>
                <a:spcPct val="0"/>
              </a:spcBef>
            </a:pPr>
            <a:r>
              <a:rPr lang="en-US" b="true" sz="5399" u="sng">
                <a:solidFill>
                  <a:srgbClr val="FFD700"/>
                </a:solidFill>
                <a:latin typeface="Helvetica World Bold"/>
                <a:ea typeface="Helvetica World Bold"/>
                <a:cs typeface="Helvetica World Bold"/>
                <a:sym typeface="Helvetica World Bold"/>
              </a:rPr>
              <a:t>LEGAL REGULATIONS</a:t>
            </a:r>
          </a:p>
        </p:txBody>
      </p:sp>
      <p:sp>
        <p:nvSpPr>
          <p:cNvPr name="TextBox 5" id="5"/>
          <p:cNvSpPr txBox="true"/>
          <p:nvPr/>
        </p:nvSpPr>
        <p:spPr>
          <a:xfrm rot="0">
            <a:off x="781051" y="7549375"/>
            <a:ext cx="17129047" cy="848246"/>
          </a:xfrm>
          <a:prstGeom prst="rect">
            <a:avLst/>
          </a:prstGeom>
        </p:spPr>
        <p:txBody>
          <a:bodyPr anchor="t" rtlCol="false" tIns="0" lIns="0" bIns="0" rIns="0">
            <a:spAutoFit/>
          </a:bodyPr>
          <a:lstStyle/>
          <a:p>
            <a:pPr algn="ctr">
              <a:lnSpc>
                <a:spcPts val="6481"/>
              </a:lnSpc>
              <a:spcBef>
                <a:spcPct val="0"/>
              </a:spcBef>
            </a:pPr>
            <a:r>
              <a:rPr lang="en-US" b="true" sz="4629">
                <a:solidFill>
                  <a:srgbClr val="FFFFF6"/>
                </a:solidFill>
                <a:latin typeface="Helvetica World Bold"/>
                <a:ea typeface="Helvetica World Bold"/>
                <a:cs typeface="Helvetica World Bold"/>
                <a:sym typeface="Helvetica World Bold"/>
              </a:rPr>
              <a:t>“MediBond is a government-approved Compliance</a:t>
            </a:r>
            <a:r>
              <a:rPr lang="en-US" b="true" sz="4629">
                <a:solidFill>
                  <a:srgbClr val="FFFFF6"/>
                </a:solidFill>
                <a:latin typeface="Helvetica World Bold"/>
                <a:ea typeface="Helvetica World Bold"/>
                <a:cs typeface="Helvetica World Bold"/>
                <a:sym typeface="Helvetica World Bold"/>
              </a:rPr>
              <a:t>”</a:t>
            </a:r>
          </a:p>
        </p:txBody>
      </p:sp>
      <p:sp>
        <p:nvSpPr>
          <p:cNvPr name="Freeform 6" id="6"/>
          <p:cNvSpPr/>
          <p:nvPr/>
        </p:nvSpPr>
        <p:spPr>
          <a:xfrm flipH="false" flipV="false" rot="0">
            <a:off x="852098" y="8645197"/>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431850" y="3189130"/>
            <a:ext cx="15827450" cy="2029869"/>
            <a:chOff x="0" y="0"/>
            <a:chExt cx="21103266" cy="2706492"/>
          </a:xfrm>
        </p:grpSpPr>
        <p:sp>
          <p:nvSpPr>
            <p:cNvPr name="TextBox 8" id="8"/>
            <p:cNvSpPr txBox="true"/>
            <p:nvPr/>
          </p:nvSpPr>
          <p:spPr>
            <a:xfrm rot="0">
              <a:off x="1984585" y="-123825"/>
              <a:ext cx="16249222" cy="1552002"/>
            </a:xfrm>
            <a:prstGeom prst="rect">
              <a:avLst/>
            </a:prstGeom>
          </p:spPr>
          <p:txBody>
            <a:bodyPr anchor="t" rtlCol="false" tIns="0" lIns="0" bIns="0" rIns="0">
              <a:spAutoFit/>
            </a:bodyPr>
            <a:lstStyle/>
            <a:p>
              <a:pPr algn="ctr">
                <a:lnSpc>
                  <a:spcPts val="9001"/>
                </a:lnSpc>
                <a:spcBef>
                  <a:spcPct val="0"/>
                </a:spcBef>
              </a:pPr>
              <a:r>
                <a:rPr lang="en-US" b="true" sz="6429">
                  <a:solidFill>
                    <a:srgbClr val="FFFFFF"/>
                  </a:solidFill>
                  <a:latin typeface="Helvetica World Bold"/>
                  <a:ea typeface="Helvetica World Bold"/>
                  <a:cs typeface="Helvetica World Bold"/>
                  <a:sym typeface="Helvetica World Bold"/>
                </a:rPr>
                <a:t>We become the Approval !</a:t>
              </a:r>
            </a:p>
          </p:txBody>
        </p:sp>
        <p:sp>
          <p:nvSpPr>
            <p:cNvPr name="TextBox 9" id="9"/>
            <p:cNvSpPr txBox="true"/>
            <p:nvPr/>
          </p:nvSpPr>
          <p:spPr>
            <a:xfrm rot="0">
              <a:off x="0" y="1732977"/>
              <a:ext cx="21103266" cy="973515"/>
            </a:xfrm>
            <a:prstGeom prst="rect">
              <a:avLst/>
            </a:prstGeom>
          </p:spPr>
          <p:txBody>
            <a:bodyPr anchor="t" rtlCol="false" tIns="0" lIns="0" bIns="0" rIns="0">
              <a:spAutoFit/>
            </a:bodyPr>
            <a:lstStyle/>
            <a:p>
              <a:pPr algn="ctr">
                <a:lnSpc>
                  <a:spcPts val="5641"/>
                </a:lnSpc>
                <a:spcBef>
                  <a:spcPct val="0"/>
                </a:spcBef>
              </a:pPr>
              <a:r>
                <a:rPr lang="en-US" b="true" sz="4029">
                  <a:solidFill>
                    <a:srgbClr val="FFFFFF"/>
                  </a:solidFill>
                  <a:latin typeface="Helvetica World Bold"/>
                  <a:ea typeface="Helvetica World Bold"/>
                  <a:cs typeface="Helvetica World Bold"/>
                  <a:sym typeface="Helvetica World Bold"/>
                </a:rPr>
                <a:t>"M</a:t>
              </a:r>
              <a:r>
                <a:rPr lang="en-US" b="true" sz="4029">
                  <a:solidFill>
                    <a:srgbClr val="FFFFFF"/>
                  </a:solidFill>
                  <a:latin typeface="Helvetica World Bold"/>
                  <a:ea typeface="Helvetica World Bold"/>
                  <a:cs typeface="Helvetica World Bold"/>
                  <a:sym typeface="Helvetica World Bold"/>
                </a:rPr>
                <a:t>arket access begins with us — and comes at a price."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5074093" y="-1942477"/>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47376" y="1629588"/>
            <a:ext cx="11133812" cy="1323596"/>
          </a:xfrm>
          <a:prstGeom prst="rect">
            <a:avLst/>
          </a:prstGeom>
        </p:spPr>
        <p:txBody>
          <a:bodyPr anchor="t" rtlCol="false" tIns="0" lIns="0" bIns="0" rIns="0">
            <a:spAutoFit/>
          </a:bodyPr>
          <a:lstStyle/>
          <a:p>
            <a:pPr algn="l">
              <a:lnSpc>
                <a:spcPts val="9888"/>
              </a:lnSpc>
            </a:pPr>
            <a:r>
              <a:rPr lang="en-US" sz="10300">
                <a:solidFill>
                  <a:srgbClr val="FFFFFF"/>
                </a:solidFill>
                <a:latin typeface="Anton"/>
                <a:ea typeface="Anton"/>
                <a:cs typeface="Anton"/>
                <a:sym typeface="Anton"/>
              </a:rPr>
              <a:t>FUTURE PLANS</a:t>
            </a:r>
          </a:p>
        </p:txBody>
      </p:sp>
      <p:sp>
        <p:nvSpPr>
          <p:cNvPr name="TextBox 4" id="4"/>
          <p:cNvSpPr txBox="true"/>
          <p:nvPr/>
        </p:nvSpPr>
        <p:spPr>
          <a:xfrm rot="0">
            <a:off x="447376" y="3436216"/>
            <a:ext cx="17259300" cy="1837035"/>
          </a:xfrm>
          <a:prstGeom prst="rect">
            <a:avLst/>
          </a:prstGeom>
        </p:spPr>
        <p:txBody>
          <a:bodyPr anchor="t" rtlCol="false" tIns="0" lIns="0" bIns="0" rIns="0">
            <a:spAutoFit/>
          </a:bodyPr>
          <a:lstStyle/>
          <a:p>
            <a:pPr algn="l">
              <a:lnSpc>
                <a:spcPts val="7421"/>
              </a:lnSpc>
            </a:pPr>
            <a:r>
              <a:rPr lang="en-US" sz="5300">
                <a:solidFill>
                  <a:srgbClr val="FFFFFF"/>
                </a:solidFill>
                <a:latin typeface="Helvetica World"/>
                <a:ea typeface="Helvetica World"/>
                <a:cs typeface="Helvetica World"/>
                <a:sym typeface="Helvetica World"/>
              </a:rPr>
              <a:t>“Secured verified</a:t>
            </a:r>
            <a:r>
              <a:rPr lang="en-US" sz="5300">
                <a:solidFill>
                  <a:srgbClr val="FFFFFF"/>
                </a:solidFill>
                <a:latin typeface="Helvetica World"/>
                <a:ea typeface="Helvetica World"/>
                <a:cs typeface="Helvetica World"/>
                <a:sym typeface="Helvetica World"/>
              </a:rPr>
              <a:t> Organ Matching — Subscription-Based Access”</a:t>
            </a:r>
          </a:p>
        </p:txBody>
      </p:sp>
      <p:sp>
        <p:nvSpPr>
          <p:cNvPr name="TextBox 5" id="5"/>
          <p:cNvSpPr txBox="true"/>
          <p:nvPr/>
        </p:nvSpPr>
        <p:spPr>
          <a:xfrm rot="0">
            <a:off x="19050" y="6540076"/>
            <a:ext cx="17259300" cy="928892"/>
          </a:xfrm>
          <a:prstGeom prst="rect">
            <a:avLst/>
          </a:prstGeom>
        </p:spPr>
        <p:txBody>
          <a:bodyPr anchor="t" rtlCol="false" tIns="0" lIns="0" bIns="0" rIns="0">
            <a:spAutoFit/>
          </a:bodyPr>
          <a:lstStyle/>
          <a:p>
            <a:pPr algn="ctr">
              <a:lnSpc>
                <a:spcPts val="7601"/>
              </a:lnSpc>
              <a:spcBef>
                <a:spcPct val="0"/>
              </a:spcBef>
            </a:pPr>
            <a:r>
              <a:rPr lang="en-US" sz="5429">
                <a:solidFill>
                  <a:srgbClr val="FFFFFF"/>
                </a:solidFill>
                <a:latin typeface="Helvetica World"/>
                <a:ea typeface="Helvetica World"/>
                <a:cs typeface="Helvetica World"/>
                <a:sym typeface="Helvetica World"/>
              </a:rPr>
              <a:t>“</a:t>
            </a:r>
            <a:r>
              <a:rPr lang="en-US" sz="5429">
                <a:solidFill>
                  <a:srgbClr val="FFFFFF"/>
                </a:solidFill>
                <a:latin typeface="Helvetica World"/>
                <a:ea typeface="Helvetica World"/>
                <a:cs typeface="Helvetica World"/>
                <a:sym typeface="Helvetica World"/>
              </a:rPr>
              <a:t>AI-Powered Risk Prediction for Counterfeit Hotspots”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Freeform 2" id="2"/>
          <p:cNvSpPr/>
          <p:nvPr/>
        </p:nvSpPr>
        <p:spPr>
          <a:xfrm flipH="false" flipV="false" rot="0">
            <a:off x="16501745" y="1140021"/>
            <a:ext cx="757555" cy="189389"/>
          </a:xfrm>
          <a:custGeom>
            <a:avLst/>
            <a:gdLst/>
            <a:ahLst/>
            <a:cxnLst/>
            <a:rect r="r" b="b" t="t" l="l"/>
            <a:pathLst>
              <a:path h="189389" w="757555">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028700" y="1140021"/>
            <a:ext cx="757555" cy="189389"/>
          </a:xfrm>
          <a:custGeom>
            <a:avLst/>
            <a:gdLst/>
            <a:ahLst/>
            <a:cxnLst/>
            <a:rect r="r" b="b" t="t" l="l"/>
            <a:pathLst>
              <a:path h="189389" w="757555">
                <a:moveTo>
                  <a:pt x="0" y="0"/>
                </a:moveTo>
                <a:lnTo>
                  <a:pt x="757555" y="0"/>
                </a:lnTo>
                <a:lnTo>
                  <a:pt x="757555" y="189389"/>
                </a:lnTo>
                <a:lnTo>
                  <a:pt x="0" y="1893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78164" y="338609"/>
            <a:ext cx="14348429" cy="1323596"/>
          </a:xfrm>
          <a:prstGeom prst="rect">
            <a:avLst/>
          </a:prstGeom>
        </p:spPr>
        <p:txBody>
          <a:bodyPr anchor="t" rtlCol="false" tIns="0" lIns="0" bIns="0" rIns="0">
            <a:spAutoFit/>
          </a:bodyPr>
          <a:lstStyle/>
          <a:p>
            <a:pPr algn="l">
              <a:lnSpc>
                <a:spcPts val="9888"/>
              </a:lnSpc>
            </a:pPr>
            <a:r>
              <a:rPr lang="en-US" sz="10300">
                <a:solidFill>
                  <a:srgbClr val="FFFFFF"/>
                </a:solidFill>
                <a:latin typeface="Anton"/>
                <a:ea typeface="Anton"/>
                <a:cs typeface="Anton"/>
                <a:sym typeface="Anton"/>
              </a:rPr>
              <a:t>SOLIDITY CODE FOR MEDIBOND</a:t>
            </a:r>
          </a:p>
        </p:txBody>
      </p:sp>
      <p:sp>
        <p:nvSpPr>
          <p:cNvPr name="Freeform 5" id="5"/>
          <p:cNvSpPr/>
          <p:nvPr/>
        </p:nvSpPr>
        <p:spPr>
          <a:xfrm flipH="false" flipV="false" rot="0">
            <a:off x="7143782" y="-2057400"/>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5">
              <a:alphaModFix amt="42000"/>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true" flipV="true" rot="0">
            <a:off x="10987051" y="-2974779"/>
            <a:ext cx="4804968" cy="4114800"/>
          </a:xfrm>
          <a:custGeom>
            <a:avLst/>
            <a:gdLst/>
            <a:ahLst/>
            <a:cxnLst/>
            <a:rect r="r" b="b" t="t" l="l"/>
            <a:pathLst>
              <a:path h="4114800" w="4804968">
                <a:moveTo>
                  <a:pt x="4804969" y="4114800"/>
                </a:moveTo>
                <a:lnTo>
                  <a:pt x="0" y="4114800"/>
                </a:lnTo>
                <a:lnTo>
                  <a:pt x="0" y="0"/>
                </a:lnTo>
                <a:lnTo>
                  <a:pt x="4804969" y="0"/>
                </a:lnTo>
                <a:lnTo>
                  <a:pt x="4804969" y="4114800"/>
                </a:lnTo>
                <a:close/>
              </a:path>
            </a:pathLst>
          </a:custGeom>
          <a:blipFill>
            <a:blip r:embed="rId5">
              <a:alphaModFix amt="42000"/>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78164" y="1662204"/>
            <a:ext cx="8123705" cy="8477440"/>
          </a:xfrm>
          <a:custGeom>
            <a:avLst/>
            <a:gdLst/>
            <a:ahLst/>
            <a:cxnLst/>
            <a:rect r="r" b="b" t="t" l="l"/>
            <a:pathLst>
              <a:path h="8477440" w="8123705">
                <a:moveTo>
                  <a:pt x="0" y="0"/>
                </a:moveTo>
                <a:lnTo>
                  <a:pt x="8123705" y="0"/>
                </a:lnTo>
                <a:lnTo>
                  <a:pt x="8123705" y="8477440"/>
                </a:lnTo>
                <a:lnTo>
                  <a:pt x="0" y="8477440"/>
                </a:lnTo>
                <a:lnTo>
                  <a:pt x="0" y="0"/>
                </a:lnTo>
                <a:close/>
              </a:path>
            </a:pathLst>
          </a:custGeom>
          <a:blipFill>
            <a:blip r:embed="rId7"/>
            <a:stretch>
              <a:fillRect l="0" t="0" r="0" b="0"/>
            </a:stretch>
          </a:blipFill>
        </p:spPr>
      </p:sp>
      <p:sp>
        <p:nvSpPr>
          <p:cNvPr name="Freeform 8" id="8"/>
          <p:cNvSpPr/>
          <p:nvPr/>
        </p:nvSpPr>
        <p:spPr>
          <a:xfrm flipH="false" flipV="false" rot="0">
            <a:off x="8771256" y="1662204"/>
            <a:ext cx="8344791" cy="8477440"/>
          </a:xfrm>
          <a:custGeom>
            <a:avLst/>
            <a:gdLst/>
            <a:ahLst/>
            <a:cxnLst/>
            <a:rect r="r" b="b" t="t" l="l"/>
            <a:pathLst>
              <a:path h="8477440" w="8344791">
                <a:moveTo>
                  <a:pt x="0" y="0"/>
                </a:moveTo>
                <a:lnTo>
                  <a:pt x="8344791" y="0"/>
                </a:lnTo>
                <a:lnTo>
                  <a:pt x="8344791" y="8477440"/>
                </a:lnTo>
                <a:lnTo>
                  <a:pt x="0" y="8477440"/>
                </a:lnTo>
                <a:lnTo>
                  <a:pt x="0" y="0"/>
                </a:lnTo>
                <a:close/>
              </a:path>
            </a:pathLst>
          </a:custGeom>
          <a:blipFill>
            <a:blip r:embed="rId8"/>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B3D73"/>
        </a:solidFill>
      </p:bgPr>
    </p:bg>
    <p:spTree>
      <p:nvGrpSpPr>
        <p:cNvPr id="1" name=""/>
        <p:cNvGrpSpPr/>
        <p:nvPr/>
      </p:nvGrpSpPr>
      <p:grpSpPr>
        <a:xfrm>
          <a:off x="0" y="0"/>
          <a:ext cx="0" cy="0"/>
          <a:chOff x="0" y="0"/>
          <a:chExt cx="0" cy="0"/>
        </a:xfrm>
      </p:grpSpPr>
      <p:sp>
        <p:nvSpPr>
          <p:cNvPr name="TextBox 2" id="2"/>
          <p:cNvSpPr txBox="true"/>
          <p:nvPr/>
        </p:nvSpPr>
        <p:spPr>
          <a:xfrm rot="0">
            <a:off x="4614125" y="4251694"/>
            <a:ext cx="9059749" cy="2174138"/>
          </a:xfrm>
          <a:prstGeom prst="rect">
            <a:avLst/>
          </a:prstGeom>
        </p:spPr>
        <p:txBody>
          <a:bodyPr anchor="t" rtlCol="false" tIns="0" lIns="0" bIns="0" rIns="0">
            <a:spAutoFit/>
          </a:bodyPr>
          <a:lstStyle/>
          <a:p>
            <a:pPr algn="l">
              <a:lnSpc>
                <a:spcPts val="16172"/>
              </a:lnSpc>
            </a:pPr>
            <a:r>
              <a:rPr lang="en-US" sz="16845">
                <a:solidFill>
                  <a:srgbClr val="FFFFFF"/>
                </a:solidFill>
                <a:latin typeface="Anton"/>
                <a:ea typeface="Anton"/>
                <a:cs typeface="Anton"/>
                <a:sym typeface="Anton"/>
              </a:rPr>
              <a:t>THANK YOU</a:t>
            </a:r>
          </a:p>
        </p:txBody>
      </p:sp>
      <p:sp>
        <p:nvSpPr>
          <p:cNvPr name="Freeform 3" id="3"/>
          <p:cNvSpPr/>
          <p:nvPr/>
        </p:nvSpPr>
        <p:spPr>
          <a:xfrm flipH="false" flipV="false" rot="0">
            <a:off x="3265032" y="-2540387"/>
            <a:ext cx="4804968" cy="4114800"/>
          </a:xfrm>
          <a:custGeom>
            <a:avLst/>
            <a:gdLst/>
            <a:ahLst/>
            <a:cxnLst/>
            <a:rect r="r" b="b" t="t" l="l"/>
            <a:pathLst>
              <a:path h="4114800" w="4804968">
                <a:moveTo>
                  <a:pt x="0" y="0"/>
                </a:moveTo>
                <a:lnTo>
                  <a:pt x="4804968" y="0"/>
                </a:lnTo>
                <a:lnTo>
                  <a:pt x="4804968"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075466" y="8479911"/>
            <a:ext cx="4804968" cy="4114800"/>
          </a:xfrm>
          <a:custGeom>
            <a:avLst/>
            <a:gdLst/>
            <a:ahLst/>
            <a:cxnLst/>
            <a:rect r="r" b="b" t="t" l="l"/>
            <a:pathLst>
              <a:path h="4114800" w="4804968">
                <a:moveTo>
                  <a:pt x="0" y="0"/>
                </a:moveTo>
                <a:lnTo>
                  <a:pt x="4804969" y="0"/>
                </a:lnTo>
                <a:lnTo>
                  <a:pt x="4804969" y="4114800"/>
                </a:lnTo>
                <a:lnTo>
                  <a:pt x="0" y="4114800"/>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DAGmIwwNF0c</dc:identifier>
  <dcterms:modified xsi:type="dcterms:W3CDTF">2011-08-01T06:04:30Z</dcterms:modified>
  <cp:revision>1</cp:revision>
  <dc:title>Blue and White Modern Simple Group Project Presentation</dc:title>
</cp:coreProperties>
</file>